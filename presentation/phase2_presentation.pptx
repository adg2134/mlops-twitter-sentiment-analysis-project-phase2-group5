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65A82"/>
            </a:solidFill>
            <a:effectLst/>
          </c:spPr>
          <c:invertIfNegative val="0"/>
          <c:dLbls>
            <c:numFmt formatCode="0.000" sourceLinked="0"/>
            <c:txPr>
              <a:bodyPr/>
              <a:lstStyle/>
              <a:p>
                <a:pPr>
                  <a:defRPr b="0" i="0" strike="noStrike" sz="900" u="none">
                    <a:solidFill>
                      <a:srgbClr val="5B6B85"/>
                    </a:solidFill>
                    <a:latin typeface="Arial"/>
                  </a:defRPr>
                </a:pPr>
              </a:p>
            </c:txPr>
            <c:showLegendKey val="0"/>
            <c:showVal val="1"/>
            <c:showCatName val="0"/>
            <c:showSerName val="0"/>
            <c:showPercent val="0"/>
            <c:showBubbleSize val="0"/>
            <c:showLeaderLines val="0"/>
          </c:dLbls>
          <c:cat>
            <c:multiLvlStrRef>
              <c:f>Sheet1!$A$2:$A$4</c:f>
              <c:multiLvlStrCache>
                <c:ptCount val="3"/>
                <c:lvl>
                  <c:pt idx="0">
                    <c:v>Unigram LogReg</c:v>
                  </c:pt>
                  <c:pt idx="1">
                    <c:v>Bigram LogReg (deployed)</c:v>
                  </c:pt>
                  <c:pt idx="2">
                    <c:v>Naive Bayes</c:v>
                  </c:pt>
                </c:lvl>
              </c:multiLvlStrCache>
            </c:multiLvlStrRef>
          </c:cat>
          <c:val>
            <c:numRef>
              <c:f>Sheet1!$B$2:$B$4</c:f>
              <c:numCache>
                <c:formatCode>General</c:formatCode>
                <c:ptCount val="3"/>
                <c:pt idx="0">
                  <c:v>0.785</c:v>
                </c:pt>
                <c:pt idx="1">
                  <c:v>0.792</c:v>
                </c:pt>
                <c:pt idx="2">
                  <c:v>0.784</c:v>
                </c:pt>
              </c:numCache>
            </c:numRef>
          </c:val>
        </c:ser>
        <c:ser>
          <c:idx val="1"/>
          <c:order val="1"/>
          <c:tx>
            <c:strRef>
              <c:f>Sheet1!$C$1</c:f>
              <c:strCache>
                <c:ptCount val="1"/>
                <c:pt idx="0">
                  <c:v>F1</c:v>
                </c:pt>
              </c:strCache>
            </c:strRef>
          </c:tx>
          <c:spPr>
            <a:solidFill>
              <a:srgbClr val="1C7293"/>
            </a:solidFill>
            <a:effectLst/>
          </c:spPr>
          <c:invertIfNegative val="0"/>
          <c:dLbls>
            <c:numFmt formatCode="0.000" sourceLinked="0"/>
            <c:txPr>
              <a:bodyPr/>
              <a:lstStyle/>
              <a:p>
                <a:pPr>
                  <a:defRPr b="0" i="0" strike="noStrike" sz="900" u="none">
                    <a:solidFill>
                      <a:srgbClr val="5B6B85"/>
                    </a:solidFill>
                    <a:latin typeface="Arial"/>
                  </a:defRPr>
                </a:pPr>
              </a:p>
            </c:txPr>
            <c:showLegendKey val="0"/>
            <c:showVal val="1"/>
            <c:showCatName val="0"/>
            <c:showSerName val="0"/>
            <c:showPercent val="0"/>
            <c:showBubbleSize val="0"/>
            <c:showLeaderLines val="0"/>
          </c:dLbls>
          <c:cat>
            <c:multiLvlStrRef>
              <c:f>Sheet1!$A$2:$A$4</c:f>
              <c:multiLvlStrCache>
                <c:ptCount val="3"/>
                <c:lvl>
                  <c:pt idx="0">
                    <c:v>Unigram LogReg</c:v>
                  </c:pt>
                  <c:pt idx="1">
                    <c:v>Bigram LogReg (deployed)</c:v>
                  </c:pt>
                  <c:pt idx="2">
                    <c:v>Naive Bayes</c:v>
                  </c:pt>
                </c:lvl>
              </c:multiLvlStrCache>
            </c:multiLvlStrRef>
          </c:cat>
          <c:val>
            <c:numRef>
              <c:f>Sheet1!$C$2:$C$4</c:f>
              <c:numCache>
                <c:formatCode>General</c:formatCode>
                <c:ptCount val="3"/>
                <c:pt idx="0">
                  <c:v>0.787</c:v>
                </c:pt>
                <c:pt idx="1">
                  <c:v>0.793</c:v>
                </c:pt>
                <c:pt idx="2">
                  <c:v>0.782</c:v>
                </c:pt>
              </c:numCache>
            </c:numRef>
          </c:val>
        </c:ser>
        <c:ser>
          <c:idx val="2"/>
          <c:order val="2"/>
          <c:tx>
            <c:strRef>
              <c:f>Sheet1!$D$1</c:f>
              <c:strCache>
                <c:ptCount val="1"/>
                <c:pt idx="0">
                  <c:v>AUC-ROC</c:v>
                </c:pt>
              </c:strCache>
            </c:strRef>
          </c:tx>
          <c:spPr>
            <a:solidFill>
              <a:srgbClr val="9FB3D6"/>
            </a:solidFill>
            <a:effectLst/>
          </c:spPr>
          <c:invertIfNegative val="0"/>
          <c:dLbls>
            <c:numFmt formatCode="0.000" sourceLinked="0"/>
            <c:txPr>
              <a:bodyPr/>
              <a:lstStyle/>
              <a:p>
                <a:pPr>
                  <a:defRPr b="0" i="0" strike="noStrike" sz="900" u="none">
                    <a:solidFill>
                      <a:srgbClr val="5B6B85"/>
                    </a:solidFill>
                    <a:latin typeface="Arial"/>
                  </a:defRPr>
                </a:pPr>
              </a:p>
            </c:txPr>
            <c:showLegendKey val="0"/>
            <c:showVal val="1"/>
            <c:showCatName val="0"/>
            <c:showSerName val="0"/>
            <c:showPercent val="0"/>
            <c:showBubbleSize val="0"/>
            <c:showLeaderLines val="0"/>
          </c:dLbls>
          <c:cat>
            <c:multiLvlStrRef>
              <c:f>Sheet1!$A$2:$A$4</c:f>
              <c:multiLvlStrCache>
                <c:ptCount val="3"/>
                <c:lvl>
                  <c:pt idx="0">
                    <c:v>Unigram LogReg</c:v>
                  </c:pt>
                  <c:pt idx="1">
                    <c:v>Bigram LogReg (deployed)</c:v>
                  </c:pt>
                  <c:pt idx="2">
                    <c:v>Naive Bayes</c:v>
                  </c:pt>
                </c:lvl>
              </c:multiLvlStrCache>
            </c:multiLvlStrRef>
          </c:cat>
          <c:val>
            <c:numRef>
              <c:f>Sheet1!$D$2:$D$4</c:f>
              <c:numCache>
                <c:formatCode>General</c:formatCode>
                <c:ptCount val="3"/>
                <c:pt idx="0">
                  <c:v>0.864</c:v>
                </c:pt>
                <c:pt idx="1">
                  <c:v>0.872</c:v>
                </c:pt>
                <c:pt idx="2">
                  <c:v>0.864</c:v>
                </c:pt>
              </c:numCache>
            </c:numRef>
          </c:val>
        </c:ser>
        <c:dLbls>
          <c:numFmt formatCode="0.000" sourceLinked="0"/>
          <c:txPr>
            <a:bodyPr/>
            <a:lstStyle/>
            <a:p>
              <a:pPr>
                <a:defRPr b="0" i="0" strike="noStrike" sz="900" u="none">
                  <a:solidFill>
                    <a:srgbClr val="5B6B8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max val="0.9"/>
          <c:min val="0.7"/>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8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today we're presenting Phase 2 of our MLOps pipeline. Phase 1 gave us a reproducible training pipeline with DVC and MLflow. Phase 2 takes that model to production: a live API, containerization, CI/CD, drift monitoring, and automated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so Phase 2 has context: Sentiment140 dataset, 3-stage DVC pipeline, MLflow tracking of 6 runs. Our best model was TF-IDF bigrams + Logistic Regression at 79.2% accuracy. That's the model we're shipping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for Phase 2, and they map directly to the four deliverables: a public API URL, a GitHub Actions workflow, drift reports, and a retraining loop with a Model Card documenting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picture. Top row is the deploy and request path: a push to GitHub triggers CI/CD, which builds a Docker image and deploys it to Render, giving us a public API that serves real users. Bottom row is the feedback loop: every prediction is logged, a scheduled drift monitor compares that traffic to our training reference sample using EvidentlyAI, and if drift is detected it triggers a full retrain — but only promotes the new model if it clears our metric guardrail, and only via a PR a human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wraps the exact sklearn Pipeline from Phase 1. Five endpoints: health check, single and batch prediction, an export endpoint the monitoring workflow uses, and Swagger docs for free from FastAPI. On the right is a real request/response pair we captured while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containerized the API with a slim Dockerfile and picked Render for the free, no-credit-card deploy path. Deploys are triggered by GitHub Actions via a deploy hook. We're upfront in our docs about the free-tier trade-off: ephemeral disk means our prediction log resets on restart, which we treat as a documented next step rather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runs lint and a real test suite, including a tiny model trained on a fixture we committed just for CI. Pushes to main go a step further: a deploy job triggers Render's deploy hook, gated behind the test job passing, then polls health until the new revision is live. We ran this locally end to end before handing it off — all 13 tests and lint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EvidentlyAI compares a committed reference sample against live traffic pulled from the API's export endpoint. We didn't just wire this up and hope — we tested it locally with two synthetic traffic sets: one that matches the reference distribution, and one deliberately shifted toward short, negative text. The tool correctly flagged no drift on the first and 100% column drift on the second, which is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drift is detected, the retrain workflow trains fresh on the full dataset, but a new model only reaches production if it clears our guardrail script: an absolute floor plus a regression check against whatever's currently live. Even then, it doesn't auto-merge — it opens a pull request for a human to review. We validated this whole chain locally, shown on the right, before handing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deployed the bigram Logistic Regression model — the best performer from Phase 1 — not the originally-committed unigram baseline. On the engineering side: 13 out of 13 tests pass, zero lint errors, and every script in this deck was actually executed against real data in our sandbox, not just written. The remaining step is account-specific: connecting our own Render and GitHub secrets, which takes about fifteen minutes following our deploy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wanted this to read like an honest engineering assessment, not a sales pitch. These limitations are documented in our Model Card. None of them are surprises — they're deliberate, explained trade-offs appropriate for a free-tier class demo, each with a clear next step for a real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 public API URL, three GitHub Actions workflows covering CI/CD, drift monitoring, and retraining, drift reports from EvidentlyAI, and a Model Card documenting the whole system honestly — including what it can't do yet.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418320" y="4206240"/>
            <a:ext cx="3840480" cy="3840480"/>
          </a:xfrm>
          <a:prstGeom prst="ellipse">
            <a:avLst/>
          </a:prstGeom>
          <a:solidFill>
            <a:srgbClr val="065A82">
              <a:alpha val="45000"/>
            </a:srgbClr>
          </a:solidFill>
          <a:ln/>
        </p:spPr>
      </p:sp>
      <p:sp>
        <p:nvSpPr>
          <p:cNvPr id="3" name="Shape 1"/>
          <p:cNvSpPr/>
          <p:nvPr/>
        </p:nvSpPr>
        <p:spPr>
          <a:xfrm>
            <a:off x="10607040" y="5212080"/>
            <a:ext cx="2377440" cy="2377440"/>
          </a:xfrm>
          <a:prstGeom prst="ellipse">
            <a:avLst/>
          </a:prstGeom>
          <a:solidFill>
            <a:srgbClr val="1C7293">
              <a:alpha val="65000"/>
            </a:srgbClr>
          </a:solidFill>
          <a:ln/>
        </p:spPr>
      </p:sp>
      <p:sp>
        <p:nvSpPr>
          <p:cNvPr id="4" name="Shape 2"/>
          <p:cNvSpPr/>
          <p:nvPr/>
        </p:nvSpPr>
        <p:spPr>
          <a:xfrm>
            <a:off x="11430000" y="5852160"/>
            <a:ext cx="1188720" cy="1188720"/>
          </a:xfrm>
          <a:prstGeom prst="ellipse">
            <a:avLst/>
          </a:prstGeom>
          <a:solidFill>
            <a:srgbClr val="3FA7D6">
              <a:alpha val="85000"/>
            </a:srgbClr>
          </a:solidFill>
          <a:ln/>
        </p:spPr>
      </p:sp>
      <p:sp>
        <p:nvSpPr>
          <p:cNvPr id="5" name="Text 3"/>
          <p:cNvSpPr/>
          <p:nvPr/>
        </p:nvSpPr>
        <p:spPr>
          <a:xfrm>
            <a:off x="731520" y="1234440"/>
            <a:ext cx="9144000" cy="365760"/>
          </a:xfrm>
          <a:prstGeom prst="rect">
            <a:avLst/>
          </a:prstGeom>
          <a:noFill/>
          <a:ln/>
        </p:spPr>
        <p:txBody>
          <a:bodyPr wrap="square" lIns="0" tIns="0" rIns="0" bIns="0" rtlCol="0" anchor="ctr"/>
          <a:lstStyle/>
          <a:p>
            <a:pPr indent="0" marL="0">
              <a:buNone/>
            </a:pPr>
            <a:r>
              <a:rPr lang="en-US" sz="1300" b="1" spc="200" kern="0" dirty="0">
                <a:solidFill>
                  <a:srgbClr val="3FA7D6"/>
                </a:solidFill>
                <a:latin typeface="Calibri" pitchFamily="34" charset="0"/>
                <a:ea typeface="Calibri" pitchFamily="34" charset="-122"/>
                <a:cs typeface="Calibri" pitchFamily="34" charset="-120"/>
              </a:rPr>
              <a:t>MAI201 · MACHINE LEARNING OPERATIONS · SENECA POLYTECHNIC</a:t>
            </a:r>
            <a:endParaRPr lang="en-US" sz="1300" dirty="0"/>
          </a:p>
        </p:txBody>
      </p:sp>
      <p:sp>
        <p:nvSpPr>
          <p:cNvPr id="6" name="Text 4"/>
          <p:cNvSpPr/>
          <p:nvPr/>
        </p:nvSpPr>
        <p:spPr>
          <a:xfrm>
            <a:off x="731520" y="1691640"/>
            <a:ext cx="96012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Twitter Sentiment Analysis</a:t>
            </a:r>
            <a:endParaRPr lang="en-US" sz="4400" dirty="0"/>
          </a:p>
        </p:txBody>
      </p:sp>
      <p:sp>
        <p:nvSpPr>
          <p:cNvPr id="7" name="Text 5"/>
          <p:cNvSpPr/>
          <p:nvPr/>
        </p:nvSpPr>
        <p:spPr>
          <a:xfrm>
            <a:off x="731520" y="2514600"/>
            <a:ext cx="96012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Phase 2 — Serving, CI/CD, and Monitoring in Production</a:t>
            </a:r>
            <a:endParaRPr lang="en-US" sz="2000" dirty="0"/>
          </a:p>
        </p:txBody>
      </p:sp>
      <p:sp>
        <p:nvSpPr>
          <p:cNvPr id="8" name="Shape 6"/>
          <p:cNvSpPr/>
          <p:nvPr/>
        </p:nvSpPr>
        <p:spPr>
          <a:xfrm>
            <a:off x="731520" y="3429000"/>
            <a:ext cx="6035040" cy="1554480"/>
          </a:xfrm>
          <a:prstGeom prst="roundRect">
            <a:avLst>
              <a:gd name="adj" fmla="val 4706"/>
            </a:avLst>
          </a:prstGeom>
          <a:solidFill>
            <a:srgbClr val="1A2350"/>
          </a:solidFill>
          <a:ln/>
        </p:spPr>
      </p:sp>
      <p:sp>
        <p:nvSpPr>
          <p:cNvPr id="9" name="Text 7"/>
          <p:cNvSpPr/>
          <p:nvPr/>
        </p:nvSpPr>
        <p:spPr>
          <a:xfrm>
            <a:off x="1005840" y="3584448"/>
            <a:ext cx="4572000" cy="27432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Team</a:t>
            </a:r>
            <a:endParaRPr lang="en-US" sz="1100" dirty="0"/>
          </a:p>
        </p:txBody>
      </p:sp>
      <p:sp>
        <p:nvSpPr>
          <p:cNvPr id="10" name="Text 8"/>
          <p:cNvSpPr/>
          <p:nvPr/>
        </p:nvSpPr>
        <p:spPr>
          <a:xfrm>
            <a:off x="1005840" y="3886200"/>
            <a:ext cx="18288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Debolina Das</a:t>
            </a:r>
            <a:endParaRPr lang="en-US" sz="1500" dirty="0"/>
          </a:p>
          <a:p>
            <a:pPr indent="0" marL="0">
              <a:buNone/>
            </a:pPr>
            <a:r>
              <a:rPr lang="en-US" sz="1200" dirty="0">
                <a:solidFill>
                  <a:srgbClr val="9FB3D6"/>
                </a:solidFill>
                <a:latin typeface="Calibri" pitchFamily="34" charset="0"/>
                <a:ea typeface="Calibri" pitchFamily="34" charset="-122"/>
                <a:cs typeface="Calibri" pitchFamily="34" charset="-120"/>
              </a:rPr>
              <a:t>ML Lead</a:t>
            </a:r>
            <a:endParaRPr lang="en-US" sz="1500" dirty="0"/>
          </a:p>
        </p:txBody>
      </p:sp>
      <p:sp>
        <p:nvSpPr>
          <p:cNvPr id="11" name="Text 9"/>
          <p:cNvSpPr/>
          <p:nvPr/>
        </p:nvSpPr>
        <p:spPr>
          <a:xfrm>
            <a:off x="2926080" y="3886200"/>
            <a:ext cx="192024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Monireh Eshghinezhad</a:t>
            </a:r>
            <a:endParaRPr lang="en-US" sz="1500" dirty="0"/>
          </a:p>
          <a:p>
            <a:pPr indent="0" marL="0">
              <a:buNone/>
            </a:pPr>
            <a:r>
              <a:rPr lang="en-US" sz="1200" dirty="0">
                <a:solidFill>
                  <a:srgbClr val="9FB3D6"/>
                </a:solidFill>
                <a:latin typeface="Calibri" pitchFamily="34" charset="0"/>
                <a:ea typeface="Calibri" pitchFamily="34" charset="-122"/>
                <a:cs typeface="Calibri" pitchFamily="34" charset="-120"/>
              </a:rPr>
              <a:t>Engineering Lead</a:t>
            </a:r>
            <a:endParaRPr lang="en-US" sz="1500" dirty="0"/>
          </a:p>
        </p:txBody>
      </p:sp>
      <p:sp>
        <p:nvSpPr>
          <p:cNvPr id="12" name="Text 10"/>
          <p:cNvSpPr/>
          <p:nvPr/>
        </p:nvSpPr>
        <p:spPr>
          <a:xfrm>
            <a:off x="5029200" y="3886200"/>
            <a:ext cx="18288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Anish Dasgupta</a:t>
            </a:r>
            <a:endParaRPr lang="en-US" sz="1500" dirty="0"/>
          </a:p>
          <a:p>
            <a:pPr indent="0" marL="0">
              <a:buNone/>
            </a:pPr>
            <a:r>
              <a:rPr lang="en-US" sz="1200" dirty="0">
                <a:solidFill>
                  <a:srgbClr val="9FB3D6"/>
                </a:solidFill>
                <a:latin typeface="Calibri" pitchFamily="34" charset="0"/>
                <a:ea typeface="Calibri" pitchFamily="34" charset="-122"/>
                <a:cs typeface="Calibri" pitchFamily="34" charset="-120"/>
              </a:rPr>
              <a:t>Project Lead</a:t>
            </a:r>
            <a:endParaRPr lang="en-US" sz="1500" dirty="0"/>
          </a:p>
        </p:txBody>
      </p:sp>
      <p:sp>
        <p:nvSpPr>
          <p:cNvPr id="13" name="Text 11"/>
          <p:cNvSpPr/>
          <p:nvPr/>
        </p:nvSpPr>
        <p:spPr>
          <a:xfrm>
            <a:off x="731520" y="6035040"/>
            <a:ext cx="7315200" cy="365760"/>
          </a:xfrm>
          <a:prstGeom prst="rect">
            <a:avLst/>
          </a:prstGeom>
          <a:noFill/>
          <a:ln/>
        </p:spPr>
        <p:txBody>
          <a:bodyPr wrap="square" lIns="0" tIns="0" rIns="0" bIns="0" rtlCol="0" anchor="ctr"/>
          <a:lstStyle/>
          <a:p>
            <a:pPr indent="0" marL="0">
              <a:buNone/>
            </a:pPr>
            <a:r>
              <a:rPr lang="en-US" sz="1300" i="1" dirty="0">
                <a:solidFill>
                  <a:srgbClr val="9FB3D6"/>
                </a:solidFill>
                <a:latin typeface="Calibri" pitchFamily="34" charset="0"/>
                <a:ea typeface="Calibri" pitchFamily="34" charset="-122"/>
                <a:cs typeface="Calibri" pitchFamily="34" charset="-120"/>
              </a:rPr>
              <a:t>From a tracked experiment to a live, monitored, self-healing API.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WHERE WE LEFT OFF</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Phase 1 Recap: Data → Pipeline → Tracking</a:t>
            </a:r>
            <a:endParaRPr lang="en-US" sz="3000" dirty="0"/>
          </a:p>
        </p:txBody>
      </p:sp>
      <p:sp>
        <p:nvSpPr>
          <p:cNvPr id="4" name="Shape 2"/>
          <p:cNvSpPr/>
          <p:nvPr/>
        </p:nvSpPr>
        <p:spPr>
          <a:xfrm>
            <a:off x="548640" y="1463040"/>
            <a:ext cx="5212080" cy="4754880"/>
          </a:xfrm>
          <a:prstGeom prst="roundRect">
            <a:avLst>
              <a:gd name="adj" fmla="val 1538"/>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Text 3"/>
          <p:cNvSpPr/>
          <p:nvPr/>
        </p:nvSpPr>
        <p:spPr>
          <a:xfrm>
            <a:off x="868680" y="1691640"/>
            <a:ext cx="457200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What we built</a:t>
            </a:r>
            <a:endParaRPr lang="en-US" sz="1400" dirty="0"/>
          </a:p>
        </p:txBody>
      </p:sp>
      <p:sp>
        <p:nvSpPr>
          <p:cNvPr id="6" name="Text 4"/>
          <p:cNvSpPr/>
          <p:nvPr/>
        </p:nvSpPr>
        <p:spPr>
          <a:xfrm>
            <a:off x="868680" y="2103120"/>
            <a:ext cx="4617720" cy="393192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rgbClr val="16213E"/>
                </a:solidFill>
                <a:latin typeface="Calibri" pitchFamily="34" charset="0"/>
                <a:ea typeface="Calibri" pitchFamily="34" charset="-122"/>
                <a:cs typeface="Calibri" pitchFamily="34" charset="-120"/>
              </a:rPr>
              <a:t>Sentiment140: 1.6M tweets, binary labels (no neutral class)</a:t>
            </a:r>
            <a:endParaRPr lang="en-US" sz="1450" dirty="0"/>
          </a:p>
          <a:p>
            <a:pPr marL="342900" indent="-342900">
              <a:spcAft>
                <a:spcPts val="1400"/>
              </a:spcAft>
              <a:buSzPct val="100000"/>
              <a:buChar char="●"/>
            </a:pPr>
            <a:r>
              <a:rPr lang="en-US" sz="1450" dirty="0">
                <a:solidFill>
                  <a:srgbClr val="16213E"/>
                </a:solidFill>
                <a:latin typeface="Calibri" pitchFamily="34" charset="0"/>
                <a:ea typeface="Calibri" pitchFamily="34" charset="-122"/>
                <a:cs typeface="Calibri" pitchFamily="34" charset="-120"/>
              </a:rPr>
              <a:t>3-stage DVC pipeline: prepare → train → evaluate</a:t>
            </a:r>
            <a:endParaRPr lang="en-US" sz="1450" dirty="0"/>
          </a:p>
          <a:p>
            <a:pPr marL="342900" indent="-342900">
              <a:spcAft>
                <a:spcPts val="1400"/>
              </a:spcAft>
              <a:buSzPct val="100000"/>
              <a:buChar char="●"/>
            </a:pPr>
            <a:r>
              <a:rPr lang="en-US" sz="1450" dirty="0">
                <a:solidFill>
                  <a:srgbClr val="16213E"/>
                </a:solidFill>
                <a:latin typeface="Calibri" pitchFamily="34" charset="0"/>
                <a:ea typeface="Calibri" pitchFamily="34" charset="-122"/>
                <a:cs typeface="Calibri" pitchFamily="34" charset="-120"/>
              </a:rPr>
              <a:t>MLflow tracking: baseline + 2 experiments, 6 runs total</a:t>
            </a:r>
            <a:endParaRPr lang="en-US" sz="1450" dirty="0"/>
          </a:p>
          <a:p>
            <a:pPr marL="342900" indent="-342900">
              <a:spcAft>
                <a:spcPts val="1400"/>
              </a:spcAft>
              <a:buSzPct val="100000"/>
              <a:buChar char="●"/>
            </a:pPr>
            <a:r>
              <a:rPr lang="en-US" sz="1450" dirty="0">
                <a:solidFill>
                  <a:srgbClr val="16213E"/>
                </a:solidFill>
                <a:latin typeface="Calibri" pitchFamily="34" charset="0"/>
                <a:ea typeface="Calibri" pitchFamily="34" charset="-122"/>
                <a:cs typeface="Calibri" pitchFamily="34" charset="-120"/>
              </a:rPr>
              <a:t>Best config: TF-IDF bigrams + Logistic Regression</a:t>
            </a:r>
            <a:endParaRPr lang="en-US" sz="1450" dirty="0"/>
          </a:p>
          <a:p>
            <a:pPr marL="342900" indent="-342900">
              <a:spcAft>
                <a:spcPts val="1400"/>
              </a:spcAft>
              <a:buSzPct val="100000"/>
              <a:buChar char="●"/>
            </a:pPr>
            <a:r>
              <a:rPr lang="en-US" sz="1450" dirty="0">
                <a:solidFill>
                  <a:srgbClr val="16213E"/>
                </a:solidFill>
                <a:latin typeface="Calibri" pitchFamily="34" charset="0"/>
                <a:ea typeface="Calibri" pitchFamily="34" charset="-122"/>
                <a:cs typeface="Calibri" pitchFamily="34" charset="-120"/>
              </a:rPr>
              <a:t>Test results: 79.2% accuracy · 0.793 F1 · 0.872 AUC-ROC</a:t>
            </a:r>
            <a:endParaRPr lang="en-US" sz="1450" dirty="0"/>
          </a:p>
        </p:txBody>
      </p:sp>
      <p:sp>
        <p:nvSpPr>
          <p:cNvPr id="7" name="Shape 5"/>
          <p:cNvSpPr/>
          <p:nvPr/>
        </p:nvSpPr>
        <p:spPr>
          <a:xfrm>
            <a:off x="5989320" y="1463040"/>
            <a:ext cx="5623560" cy="4754880"/>
          </a:xfrm>
          <a:prstGeom prst="roundRect">
            <a:avLst>
              <a:gd name="adj" fmla="val 1538"/>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8" name="Text 6"/>
          <p:cNvSpPr/>
          <p:nvPr/>
        </p:nvSpPr>
        <p:spPr>
          <a:xfrm>
            <a:off x="6309360" y="1691640"/>
            <a:ext cx="4572000" cy="274320"/>
          </a:xfrm>
          <a:prstGeom prst="rect">
            <a:avLst/>
          </a:prstGeom>
          <a:noFill/>
          <a:ln/>
        </p:spPr>
        <p:txBody>
          <a:bodyPr wrap="square" lIns="0" tIns="0" rIns="0" bIns="0" rtlCol="0" anchor="ctr"/>
          <a:lstStyle/>
          <a:p>
            <a:pPr indent="0" marL="0">
              <a:buNone/>
            </a:pPr>
            <a:r>
              <a:rPr lang="en-US" sz="1200" b="1" spc="100" kern="0" dirty="0">
                <a:solidFill>
                  <a:srgbClr val="3FA7D6"/>
                </a:solidFill>
                <a:latin typeface="Calibri" pitchFamily="34" charset="0"/>
                <a:ea typeface="Calibri" pitchFamily="34" charset="-122"/>
                <a:cs typeface="Calibri" pitchFamily="34" charset="-120"/>
              </a:rPr>
              <a:t>Pipeline flow</a:t>
            </a:r>
            <a:endParaRPr lang="en-US" sz="1200" dirty="0"/>
          </a:p>
        </p:txBody>
      </p:sp>
      <p:sp>
        <p:nvSpPr>
          <p:cNvPr id="9" name="Shape 7"/>
          <p:cNvSpPr/>
          <p:nvPr/>
        </p:nvSpPr>
        <p:spPr>
          <a:xfrm>
            <a:off x="6355080" y="2468880"/>
            <a:ext cx="1051560" cy="914400"/>
          </a:xfrm>
          <a:prstGeom prst="roundRect">
            <a:avLst>
              <a:gd name="adj" fmla="val 6000"/>
            </a:avLst>
          </a:prstGeom>
          <a:solidFill>
            <a:srgbClr val="173456"/>
          </a:solidFill>
          <a:ln/>
        </p:spPr>
      </p:sp>
      <p:sp>
        <p:nvSpPr>
          <p:cNvPr id="10" name="Text 8"/>
          <p:cNvSpPr/>
          <p:nvPr/>
        </p:nvSpPr>
        <p:spPr>
          <a:xfrm>
            <a:off x="6263640" y="2468880"/>
            <a:ext cx="1234440" cy="914400"/>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Raw CSV</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(Kaggle)</a:t>
            </a:r>
            <a:endParaRPr lang="en-US" sz="950" dirty="0"/>
          </a:p>
        </p:txBody>
      </p:sp>
      <p:sp>
        <p:nvSpPr>
          <p:cNvPr id="11" name="Shape 9"/>
          <p:cNvSpPr/>
          <p:nvPr/>
        </p:nvSpPr>
        <p:spPr>
          <a:xfrm>
            <a:off x="7434072" y="2852928"/>
            <a:ext cx="265176" cy="146304"/>
          </a:xfrm>
          <a:prstGeom prst="rightArrow">
            <a:avLst/>
          </a:prstGeom>
          <a:solidFill>
            <a:srgbClr val="3FA7D6"/>
          </a:solidFill>
          <a:ln/>
        </p:spPr>
      </p:sp>
      <p:sp>
        <p:nvSpPr>
          <p:cNvPr id="12" name="Shape 10"/>
          <p:cNvSpPr/>
          <p:nvPr/>
        </p:nvSpPr>
        <p:spPr>
          <a:xfrm>
            <a:off x="7726680" y="2468880"/>
            <a:ext cx="1051560" cy="914400"/>
          </a:xfrm>
          <a:prstGeom prst="roundRect">
            <a:avLst>
              <a:gd name="adj" fmla="val 6000"/>
            </a:avLst>
          </a:prstGeom>
          <a:solidFill>
            <a:srgbClr val="173456"/>
          </a:solidFill>
          <a:ln/>
        </p:spPr>
      </p:sp>
      <p:sp>
        <p:nvSpPr>
          <p:cNvPr id="13" name="Text 11"/>
          <p:cNvSpPr/>
          <p:nvPr/>
        </p:nvSpPr>
        <p:spPr>
          <a:xfrm>
            <a:off x="7635240" y="2468880"/>
            <a:ext cx="1234440" cy="914400"/>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prepare.py</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clean + split</a:t>
            </a:r>
            <a:endParaRPr lang="en-US" sz="950" dirty="0"/>
          </a:p>
        </p:txBody>
      </p:sp>
      <p:sp>
        <p:nvSpPr>
          <p:cNvPr id="14" name="Shape 12"/>
          <p:cNvSpPr/>
          <p:nvPr/>
        </p:nvSpPr>
        <p:spPr>
          <a:xfrm>
            <a:off x="8805672" y="2852928"/>
            <a:ext cx="265176" cy="146304"/>
          </a:xfrm>
          <a:prstGeom prst="rightArrow">
            <a:avLst/>
          </a:prstGeom>
          <a:solidFill>
            <a:srgbClr val="3FA7D6"/>
          </a:solidFill>
          <a:ln/>
        </p:spPr>
      </p:sp>
      <p:sp>
        <p:nvSpPr>
          <p:cNvPr id="15" name="Shape 13"/>
          <p:cNvSpPr/>
          <p:nvPr/>
        </p:nvSpPr>
        <p:spPr>
          <a:xfrm>
            <a:off x="9098280" y="2468880"/>
            <a:ext cx="1051560" cy="914400"/>
          </a:xfrm>
          <a:prstGeom prst="roundRect">
            <a:avLst>
              <a:gd name="adj" fmla="val 6000"/>
            </a:avLst>
          </a:prstGeom>
          <a:solidFill>
            <a:srgbClr val="1C7293"/>
          </a:solidFill>
          <a:ln/>
        </p:spPr>
      </p:sp>
      <p:sp>
        <p:nvSpPr>
          <p:cNvPr id="16" name="Text 14"/>
          <p:cNvSpPr/>
          <p:nvPr/>
        </p:nvSpPr>
        <p:spPr>
          <a:xfrm>
            <a:off x="9006840" y="2468880"/>
            <a:ext cx="1234440" cy="914400"/>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train.py</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TF-IDF + LogReg</a:t>
            </a:r>
            <a:endParaRPr lang="en-US" sz="950" dirty="0"/>
          </a:p>
        </p:txBody>
      </p:sp>
      <p:sp>
        <p:nvSpPr>
          <p:cNvPr id="17" name="Shape 15"/>
          <p:cNvSpPr/>
          <p:nvPr/>
        </p:nvSpPr>
        <p:spPr>
          <a:xfrm>
            <a:off x="10177272" y="2852928"/>
            <a:ext cx="265176" cy="146304"/>
          </a:xfrm>
          <a:prstGeom prst="rightArrow">
            <a:avLst/>
          </a:prstGeom>
          <a:solidFill>
            <a:srgbClr val="3FA7D6"/>
          </a:solidFill>
          <a:ln/>
        </p:spPr>
      </p:sp>
      <p:sp>
        <p:nvSpPr>
          <p:cNvPr id="18" name="Shape 16"/>
          <p:cNvSpPr/>
          <p:nvPr/>
        </p:nvSpPr>
        <p:spPr>
          <a:xfrm>
            <a:off x="10469880" y="2468880"/>
            <a:ext cx="1051560" cy="914400"/>
          </a:xfrm>
          <a:prstGeom prst="roundRect">
            <a:avLst>
              <a:gd name="adj" fmla="val 6000"/>
            </a:avLst>
          </a:prstGeom>
          <a:solidFill>
            <a:srgbClr val="173456"/>
          </a:solidFill>
          <a:ln/>
        </p:spPr>
      </p:sp>
      <p:sp>
        <p:nvSpPr>
          <p:cNvPr id="19" name="Text 17"/>
          <p:cNvSpPr/>
          <p:nvPr/>
        </p:nvSpPr>
        <p:spPr>
          <a:xfrm>
            <a:off x="10378440" y="2468880"/>
            <a:ext cx="1234440" cy="914400"/>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evaluate.py</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metrics + CM</a:t>
            </a:r>
            <a:endParaRPr lang="en-US" sz="950" dirty="0"/>
          </a:p>
        </p:txBody>
      </p:sp>
      <p:sp>
        <p:nvSpPr>
          <p:cNvPr id="20" name="Text 18"/>
          <p:cNvSpPr/>
          <p:nvPr/>
        </p:nvSpPr>
        <p:spPr>
          <a:xfrm>
            <a:off x="6309360" y="3749040"/>
            <a:ext cx="5029200" cy="118872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Every run → params + metrics + model artifact logged to MLflow (SQLite backend). DVC cache versions data and models; Git/GitHub version code and pipeline state.</a:t>
            </a:r>
            <a:endParaRPr lang="en-US" sz="1250" dirty="0"/>
          </a:p>
        </p:txBody>
      </p:sp>
      <p:sp>
        <p:nvSpPr>
          <p:cNvPr id="21" name="Text 19"/>
          <p:cNvSpPr/>
          <p:nvPr/>
        </p:nvSpPr>
        <p:spPr>
          <a:xfrm>
            <a:off x="6309360" y="5074920"/>
            <a:ext cx="5029200" cy="274320"/>
          </a:xfrm>
          <a:prstGeom prst="rect">
            <a:avLst/>
          </a:prstGeom>
          <a:noFill/>
          <a:ln/>
        </p:spPr>
        <p:txBody>
          <a:bodyPr wrap="square" lIns="0" tIns="0" rIns="0" bIns="0" rtlCol="0" anchor="ctr"/>
          <a:lstStyle/>
          <a:p>
            <a:pPr indent="0" marL="0">
              <a:buNone/>
            </a:pPr>
            <a:r>
              <a:rPr lang="en-US" sz="1100" b="1" dirty="0">
                <a:solidFill>
                  <a:srgbClr val="3FA7D6"/>
                </a:solidFill>
                <a:latin typeface="Calibri" pitchFamily="34" charset="0"/>
                <a:ea typeface="Calibri" pitchFamily="34" charset="-122"/>
                <a:cs typeface="Calibri" pitchFamily="34" charset="-120"/>
              </a:rPr>
              <a:t>Reproduce anytime:</a:t>
            </a:r>
            <a:endParaRPr lang="en-US" sz="1100" dirty="0"/>
          </a:p>
        </p:txBody>
      </p:sp>
      <p:sp>
        <p:nvSpPr>
          <p:cNvPr id="22" name="Text 20"/>
          <p:cNvSpPr/>
          <p:nvPr/>
        </p:nvSpPr>
        <p:spPr>
          <a:xfrm>
            <a:off x="6309360" y="5376672"/>
            <a:ext cx="502920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git clone → dvc pull → dvc repro → mlflow ui</a:t>
            </a:r>
            <a:endParaRPr lang="en-US" sz="1200" dirty="0"/>
          </a:p>
        </p:txBody>
      </p:sp>
      <p:sp>
        <p:nvSpPr>
          <p:cNvPr id="23" name="Text 21"/>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24" name="Text 22"/>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BRIEF</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Phase 2 Objectives</a:t>
            </a:r>
            <a:endParaRPr lang="en-US" sz="3000" dirty="0"/>
          </a:p>
        </p:txBody>
      </p:sp>
      <p:sp>
        <p:nvSpPr>
          <p:cNvPr id="4" name="Shape 2"/>
          <p:cNvSpPr/>
          <p:nvPr/>
        </p:nvSpPr>
        <p:spPr>
          <a:xfrm>
            <a:off x="548640" y="1691640"/>
            <a:ext cx="2697480" cy="4297680"/>
          </a:xfrm>
          <a:prstGeom prst="roundRect">
            <a:avLst>
              <a:gd name="adj" fmla="val 2712"/>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Shape 3"/>
          <p:cNvSpPr/>
          <p:nvPr/>
        </p:nvSpPr>
        <p:spPr>
          <a:xfrm>
            <a:off x="822960" y="2011680"/>
            <a:ext cx="640080" cy="640080"/>
          </a:xfrm>
          <a:prstGeom prst="ellipse">
            <a:avLst/>
          </a:prstGeom>
          <a:solidFill>
            <a:srgbClr val="065A82"/>
          </a:solidFill>
          <a:ln/>
        </p:spPr>
      </p:sp>
      <p:sp>
        <p:nvSpPr>
          <p:cNvPr id="6" name="Text 4"/>
          <p:cNvSpPr/>
          <p:nvPr/>
        </p:nvSpPr>
        <p:spPr>
          <a:xfrm>
            <a:off x="82296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822960" y="2880360"/>
            <a:ext cx="2148840" cy="640080"/>
          </a:xfrm>
          <a:prstGeom prst="rect">
            <a:avLst/>
          </a:prstGeom>
          <a:noFill/>
          <a:ln/>
        </p:spPr>
        <p:txBody>
          <a:bodyPr wrap="square" lIns="0" tIns="0" rIns="0" bIns="0" rtlCol="0" anchor="t"/>
          <a:lstStyle/>
          <a:p>
            <a:pPr indent="0" marL="0">
              <a:buNone/>
            </a:pPr>
            <a:r>
              <a:rPr lang="en-US" sz="1650" b="1" dirty="0">
                <a:solidFill>
                  <a:srgbClr val="21295C"/>
                </a:solidFill>
                <a:latin typeface="Calibri" pitchFamily="34" charset="0"/>
                <a:ea typeface="Calibri" pitchFamily="34" charset="-122"/>
                <a:cs typeface="Calibri" pitchFamily="34" charset="-120"/>
              </a:rPr>
              <a:t>Serve the model</a:t>
            </a:r>
            <a:endParaRPr lang="en-US" sz="1650" dirty="0"/>
          </a:p>
        </p:txBody>
      </p:sp>
      <p:sp>
        <p:nvSpPr>
          <p:cNvPr id="8" name="Text 6"/>
          <p:cNvSpPr/>
          <p:nvPr/>
        </p:nvSpPr>
        <p:spPr>
          <a:xfrm>
            <a:off x="822960" y="3566160"/>
            <a:ext cx="2148840" cy="2194560"/>
          </a:xfrm>
          <a:prstGeom prst="rect">
            <a:avLst/>
          </a:prstGeom>
          <a:noFill/>
          <a:ln/>
        </p:spPr>
        <p:txBody>
          <a:bodyPr wrap="square" lIns="0" tIns="0" rIns="0" bIns="0" rtlCol="0" anchor="t"/>
          <a:lstStyle/>
          <a:p>
            <a:pPr indent="0" marL="0">
              <a:buNone/>
            </a:pPr>
            <a:r>
              <a:rPr lang="en-US" sz="1250" dirty="0">
                <a:solidFill>
                  <a:srgbClr val="5B6B85"/>
                </a:solidFill>
                <a:latin typeface="Calibri" pitchFamily="34" charset="0"/>
                <a:ea typeface="Calibri" pitchFamily="34" charset="-122"/>
                <a:cs typeface="Calibri" pitchFamily="34" charset="-120"/>
              </a:rPr>
              <a:t>FastAPI endpoint, containerized with Docker, deployed to the cloud</a:t>
            </a:r>
            <a:endParaRPr lang="en-US" sz="1250" dirty="0"/>
          </a:p>
        </p:txBody>
      </p:sp>
      <p:sp>
        <p:nvSpPr>
          <p:cNvPr id="9" name="Shape 7"/>
          <p:cNvSpPr/>
          <p:nvPr/>
        </p:nvSpPr>
        <p:spPr>
          <a:xfrm>
            <a:off x="3474720" y="1691640"/>
            <a:ext cx="2697480" cy="4297680"/>
          </a:xfrm>
          <a:prstGeom prst="roundRect">
            <a:avLst>
              <a:gd name="adj" fmla="val 2712"/>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10" name="Shape 8"/>
          <p:cNvSpPr/>
          <p:nvPr/>
        </p:nvSpPr>
        <p:spPr>
          <a:xfrm>
            <a:off x="3749040" y="2011680"/>
            <a:ext cx="640080" cy="640080"/>
          </a:xfrm>
          <a:prstGeom prst="ellipse">
            <a:avLst/>
          </a:prstGeom>
          <a:solidFill>
            <a:srgbClr val="1C7293"/>
          </a:solidFill>
          <a:ln/>
        </p:spPr>
      </p:sp>
      <p:sp>
        <p:nvSpPr>
          <p:cNvPr id="11" name="Text 9"/>
          <p:cNvSpPr/>
          <p:nvPr/>
        </p:nvSpPr>
        <p:spPr>
          <a:xfrm>
            <a:off x="374904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3749040" y="2880360"/>
            <a:ext cx="2148840" cy="640080"/>
          </a:xfrm>
          <a:prstGeom prst="rect">
            <a:avLst/>
          </a:prstGeom>
          <a:noFill/>
          <a:ln/>
        </p:spPr>
        <p:txBody>
          <a:bodyPr wrap="square" lIns="0" tIns="0" rIns="0" bIns="0" rtlCol="0" anchor="t"/>
          <a:lstStyle/>
          <a:p>
            <a:pPr indent="0" marL="0">
              <a:buNone/>
            </a:pPr>
            <a:r>
              <a:rPr lang="en-US" sz="1650" b="1" dirty="0">
                <a:solidFill>
                  <a:srgbClr val="21295C"/>
                </a:solidFill>
                <a:latin typeface="Calibri" pitchFamily="34" charset="0"/>
                <a:ea typeface="Calibri" pitchFamily="34" charset="-122"/>
                <a:cs typeface="Calibri" pitchFamily="34" charset="-120"/>
              </a:rPr>
              <a:t>Automate delivery</a:t>
            </a:r>
            <a:endParaRPr lang="en-US" sz="1650" dirty="0"/>
          </a:p>
        </p:txBody>
      </p:sp>
      <p:sp>
        <p:nvSpPr>
          <p:cNvPr id="13" name="Text 11"/>
          <p:cNvSpPr/>
          <p:nvPr/>
        </p:nvSpPr>
        <p:spPr>
          <a:xfrm>
            <a:off x="3749040" y="3566160"/>
            <a:ext cx="2148840" cy="2194560"/>
          </a:xfrm>
          <a:prstGeom prst="rect">
            <a:avLst/>
          </a:prstGeom>
          <a:noFill/>
          <a:ln/>
        </p:spPr>
        <p:txBody>
          <a:bodyPr wrap="square" lIns="0" tIns="0" rIns="0" bIns="0" rtlCol="0" anchor="t"/>
          <a:lstStyle/>
          <a:p>
            <a:pPr indent="0" marL="0">
              <a:buNone/>
            </a:pPr>
            <a:r>
              <a:rPr lang="en-US" sz="1250" dirty="0">
                <a:solidFill>
                  <a:srgbClr val="5B6B85"/>
                </a:solidFill>
                <a:latin typeface="Calibri" pitchFamily="34" charset="0"/>
                <a:ea typeface="Calibri" pitchFamily="34" charset="-122"/>
                <a:cs typeface="Calibri" pitchFamily="34" charset="-120"/>
              </a:rPr>
              <a:t>GitHub Actions CI/CD: lint, test, and auto-deploy on every merge</a:t>
            </a:r>
            <a:endParaRPr lang="en-US" sz="1250" dirty="0"/>
          </a:p>
        </p:txBody>
      </p:sp>
      <p:sp>
        <p:nvSpPr>
          <p:cNvPr id="14" name="Shape 12"/>
          <p:cNvSpPr/>
          <p:nvPr/>
        </p:nvSpPr>
        <p:spPr>
          <a:xfrm>
            <a:off x="6400800" y="1691640"/>
            <a:ext cx="2697480" cy="4297680"/>
          </a:xfrm>
          <a:prstGeom prst="roundRect">
            <a:avLst>
              <a:gd name="adj" fmla="val 2712"/>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15" name="Shape 13"/>
          <p:cNvSpPr/>
          <p:nvPr/>
        </p:nvSpPr>
        <p:spPr>
          <a:xfrm>
            <a:off x="6675120" y="2011680"/>
            <a:ext cx="640080" cy="640080"/>
          </a:xfrm>
          <a:prstGeom prst="ellipse">
            <a:avLst/>
          </a:prstGeom>
          <a:solidFill>
            <a:srgbClr val="2E8B57"/>
          </a:solidFill>
          <a:ln/>
        </p:spPr>
      </p:sp>
      <p:sp>
        <p:nvSpPr>
          <p:cNvPr id="16" name="Text 14"/>
          <p:cNvSpPr/>
          <p:nvPr/>
        </p:nvSpPr>
        <p:spPr>
          <a:xfrm>
            <a:off x="667512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7" name="Text 15"/>
          <p:cNvSpPr/>
          <p:nvPr/>
        </p:nvSpPr>
        <p:spPr>
          <a:xfrm>
            <a:off x="6675120" y="2880360"/>
            <a:ext cx="2148840" cy="640080"/>
          </a:xfrm>
          <a:prstGeom prst="rect">
            <a:avLst/>
          </a:prstGeom>
          <a:noFill/>
          <a:ln/>
        </p:spPr>
        <p:txBody>
          <a:bodyPr wrap="square" lIns="0" tIns="0" rIns="0" bIns="0" rtlCol="0" anchor="t"/>
          <a:lstStyle/>
          <a:p>
            <a:pPr indent="0" marL="0">
              <a:buNone/>
            </a:pPr>
            <a:r>
              <a:rPr lang="en-US" sz="1650" b="1" dirty="0">
                <a:solidFill>
                  <a:srgbClr val="21295C"/>
                </a:solidFill>
                <a:latin typeface="Calibri" pitchFamily="34" charset="0"/>
                <a:ea typeface="Calibri" pitchFamily="34" charset="-122"/>
                <a:cs typeface="Calibri" pitchFamily="34" charset="-120"/>
              </a:rPr>
              <a:t>Watch it in prod</a:t>
            </a:r>
            <a:endParaRPr lang="en-US" sz="1650" dirty="0"/>
          </a:p>
        </p:txBody>
      </p:sp>
      <p:sp>
        <p:nvSpPr>
          <p:cNvPr id="18" name="Text 16"/>
          <p:cNvSpPr/>
          <p:nvPr/>
        </p:nvSpPr>
        <p:spPr>
          <a:xfrm>
            <a:off x="6675120" y="3566160"/>
            <a:ext cx="2148840" cy="2194560"/>
          </a:xfrm>
          <a:prstGeom prst="rect">
            <a:avLst/>
          </a:prstGeom>
          <a:noFill/>
          <a:ln/>
        </p:spPr>
        <p:txBody>
          <a:bodyPr wrap="square" lIns="0" tIns="0" rIns="0" bIns="0" rtlCol="0" anchor="t"/>
          <a:lstStyle/>
          <a:p>
            <a:pPr indent="0" marL="0">
              <a:buNone/>
            </a:pPr>
            <a:r>
              <a:rPr lang="en-US" sz="1250" dirty="0">
                <a:solidFill>
                  <a:srgbClr val="5B6B85"/>
                </a:solidFill>
                <a:latin typeface="Calibri" pitchFamily="34" charset="0"/>
                <a:ea typeface="Calibri" pitchFamily="34" charset="-122"/>
                <a:cs typeface="Calibri" pitchFamily="34" charset="-120"/>
              </a:rPr>
              <a:t>Drift detection with EvidentlyAI, comparing live traffic to training data</a:t>
            </a:r>
            <a:endParaRPr lang="en-US" sz="1250" dirty="0"/>
          </a:p>
        </p:txBody>
      </p:sp>
      <p:sp>
        <p:nvSpPr>
          <p:cNvPr id="19" name="Shape 17"/>
          <p:cNvSpPr/>
          <p:nvPr/>
        </p:nvSpPr>
        <p:spPr>
          <a:xfrm>
            <a:off x="9326880" y="1691640"/>
            <a:ext cx="2697480" cy="4297680"/>
          </a:xfrm>
          <a:prstGeom prst="roundRect">
            <a:avLst>
              <a:gd name="adj" fmla="val 2712"/>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20" name="Shape 18"/>
          <p:cNvSpPr/>
          <p:nvPr/>
        </p:nvSpPr>
        <p:spPr>
          <a:xfrm>
            <a:off x="9601200" y="2011680"/>
            <a:ext cx="640080" cy="640080"/>
          </a:xfrm>
          <a:prstGeom prst="ellipse">
            <a:avLst/>
          </a:prstGeom>
          <a:solidFill>
            <a:srgbClr val="C1440E"/>
          </a:solidFill>
          <a:ln/>
        </p:spPr>
      </p:sp>
      <p:sp>
        <p:nvSpPr>
          <p:cNvPr id="21" name="Text 19"/>
          <p:cNvSpPr/>
          <p:nvPr/>
        </p:nvSpPr>
        <p:spPr>
          <a:xfrm>
            <a:off x="960120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22" name="Text 20"/>
          <p:cNvSpPr/>
          <p:nvPr/>
        </p:nvSpPr>
        <p:spPr>
          <a:xfrm>
            <a:off x="9601200" y="2880360"/>
            <a:ext cx="2148840" cy="640080"/>
          </a:xfrm>
          <a:prstGeom prst="rect">
            <a:avLst/>
          </a:prstGeom>
          <a:noFill/>
          <a:ln/>
        </p:spPr>
        <p:txBody>
          <a:bodyPr wrap="square" lIns="0" tIns="0" rIns="0" bIns="0" rtlCol="0" anchor="t"/>
          <a:lstStyle/>
          <a:p>
            <a:pPr indent="0" marL="0">
              <a:buNone/>
            </a:pPr>
            <a:r>
              <a:rPr lang="en-US" sz="1650" b="1" dirty="0">
                <a:solidFill>
                  <a:srgbClr val="21295C"/>
                </a:solidFill>
                <a:latin typeface="Calibri" pitchFamily="34" charset="0"/>
                <a:ea typeface="Calibri" pitchFamily="34" charset="-122"/>
                <a:cs typeface="Calibri" pitchFamily="34" charset="-120"/>
              </a:rPr>
              <a:t>Close the loop</a:t>
            </a:r>
            <a:endParaRPr lang="en-US" sz="1650" dirty="0"/>
          </a:p>
        </p:txBody>
      </p:sp>
      <p:sp>
        <p:nvSpPr>
          <p:cNvPr id="23" name="Text 21"/>
          <p:cNvSpPr/>
          <p:nvPr/>
        </p:nvSpPr>
        <p:spPr>
          <a:xfrm>
            <a:off x="9601200" y="3566160"/>
            <a:ext cx="2148840" cy="2194560"/>
          </a:xfrm>
          <a:prstGeom prst="rect">
            <a:avLst/>
          </a:prstGeom>
          <a:noFill/>
          <a:ln/>
        </p:spPr>
        <p:txBody>
          <a:bodyPr wrap="square" lIns="0" tIns="0" rIns="0" bIns="0" rtlCol="0" anchor="t"/>
          <a:lstStyle/>
          <a:p>
            <a:pPr indent="0" marL="0">
              <a:buNone/>
            </a:pPr>
            <a:r>
              <a:rPr lang="en-US" sz="1250" dirty="0">
                <a:solidFill>
                  <a:srgbClr val="5B6B85"/>
                </a:solidFill>
                <a:latin typeface="Calibri" pitchFamily="34" charset="0"/>
                <a:ea typeface="Calibri" pitchFamily="34" charset="-122"/>
                <a:cs typeface="Calibri" pitchFamily="34" charset="-120"/>
              </a:rPr>
              <a:t>Automated retraining triggered by drift, gated by a metric guardrail</a:t>
            </a:r>
            <a:endParaRPr lang="en-US" sz="1250" dirty="0"/>
          </a:p>
        </p:txBody>
      </p:sp>
      <p:sp>
        <p:nvSpPr>
          <p:cNvPr id="24" name="Text 22"/>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25" name="Text 23"/>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3FA7D6"/>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566928"/>
            <a:ext cx="11064240" cy="5486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Code to Prediction, and Back Again</a:t>
            </a:r>
            <a:endParaRPr lang="en-US" sz="2700" dirty="0"/>
          </a:p>
        </p:txBody>
      </p:sp>
      <p:sp>
        <p:nvSpPr>
          <p:cNvPr id="4" name="Shape 2"/>
          <p:cNvSpPr/>
          <p:nvPr/>
        </p:nvSpPr>
        <p:spPr>
          <a:xfrm>
            <a:off x="548640" y="1600200"/>
            <a:ext cx="1691640" cy="960120"/>
          </a:xfrm>
          <a:prstGeom prst="roundRect">
            <a:avLst>
              <a:gd name="adj" fmla="val 6667"/>
            </a:avLst>
          </a:prstGeom>
          <a:solidFill>
            <a:srgbClr val="2A3A63"/>
          </a:solidFill>
          <a:ln/>
        </p:spPr>
      </p:sp>
      <p:sp>
        <p:nvSpPr>
          <p:cNvPr id="5" name="Text 3"/>
          <p:cNvSpPr/>
          <p:nvPr/>
        </p:nvSpPr>
        <p:spPr>
          <a:xfrm>
            <a:off x="594360" y="1600200"/>
            <a:ext cx="1600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GitHub</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push to main</a:t>
            </a:r>
            <a:endParaRPr lang="en-US" sz="1300" dirty="0"/>
          </a:p>
        </p:txBody>
      </p:sp>
      <p:sp>
        <p:nvSpPr>
          <p:cNvPr id="6" name="Shape 4"/>
          <p:cNvSpPr/>
          <p:nvPr/>
        </p:nvSpPr>
        <p:spPr>
          <a:xfrm>
            <a:off x="2258568" y="2007108"/>
            <a:ext cx="100584" cy="146304"/>
          </a:xfrm>
          <a:prstGeom prst="rightArrow">
            <a:avLst/>
          </a:prstGeom>
          <a:solidFill>
            <a:srgbClr val="3FA7D6"/>
          </a:solidFill>
          <a:ln/>
        </p:spPr>
      </p:sp>
      <p:sp>
        <p:nvSpPr>
          <p:cNvPr id="7" name="Shape 5"/>
          <p:cNvSpPr/>
          <p:nvPr/>
        </p:nvSpPr>
        <p:spPr>
          <a:xfrm>
            <a:off x="2514600" y="1600200"/>
            <a:ext cx="1691640" cy="960120"/>
          </a:xfrm>
          <a:prstGeom prst="roundRect">
            <a:avLst>
              <a:gd name="adj" fmla="val 6667"/>
            </a:avLst>
          </a:prstGeom>
          <a:solidFill>
            <a:srgbClr val="065A82"/>
          </a:solidFill>
          <a:ln/>
        </p:spPr>
      </p:sp>
      <p:sp>
        <p:nvSpPr>
          <p:cNvPr id="8" name="Text 6"/>
          <p:cNvSpPr/>
          <p:nvPr/>
        </p:nvSpPr>
        <p:spPr>
          <a:xfrm>
            <a:off x="2560320" y="1600200"/>
            <a:ext cx="1600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CI/CD</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lint · test · build</a:t>
            </a:r>
            <a:endParaRPr lang="en-US" sz="1300" dirty="0"/>
          </a:p>
        </p:txBody>
      </p:sp>
      <p:sp>
        <p:nvSpPr>
          <p:cNvPr id="9" name="Shape 7"/>
          <p:cNvSpPr/>
          <p:nvPr/>
        </p:nvSpPr>
        <p:spPr>
          <a:xfrm>
            <a:off x="4224528" y="2007108"/>
            <a:ext cx="100584" cy="146304"/>
          </a:xfrm>
          <a:prstGeom prst="rightArrow">
            <a:avLst/>
          </a:prstGeom>
          <a:solidFill>
            <a:srgbClr val="3FA7D6"/>
          </a:solidFill>
          <a:ln/>
        </p:spPr>
      </p:sp>
      <p:sp>
        <p:nvSpPr>
          <p:cNvPr id="10" name="Shape 8"/>
          <p:cNvSpPr/>
          <p:nvPr/>
        </p:nvSpPr>
        <p:spPr>
          <a:xfrm>
            <a:off x="4480560" y="1600200"/>
            <a:ext cx="1691640" cy="960120"/>
          </a:xfrm>
          <a:prstGeom prst="roundRect">
            <a:avLst>
              <a:gd name="adj" fmla="val 6667"/>
            </a:avLst>
          </a:prstGeom>
          <a:solidFill>
            <a:srgbClr val="1C7293"/>
          </a:solidFill>
          <a:ln/>
        </p:spPr>
      </p:sp>
      <p:sp>
        <p:nvSpPr>
          <p:cNvPr id="11" name="Text 9"/>
          <p:cNvSpPr/>
          <p:nvPr/>
        </p:nvSpPr>
        <p:spPr>
          <a:xfrm>
            <a:off x="4526280" y="1600200"/>
            <a:ext cx="1600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Docker Image</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FastAPI + model</a:t>
            </a:r>
            <a:endParaRPr lang="en-US" sz="1300" dirty="0"/>
          </a:p>
        </p:txBody>
      </p:sp>
      <p:sp>
        <p:nvSpPr>
          <p:cNvPr id="12" name="Shape 10"/>
          <p:cNvSpPr/>
          <p:nvPr/>
        </p:nvSpPr>
        <p:spPr>
          <a:xfrm>
            <a:off x="6190488" y="2007108"/>
            <a:ext cx="100584" cy="146304"/>
          </a:xfrm>
          <a:prstGeom prst="rightArrow">
            <a:avLst/>
          </a:prstGeom>
          <a:solidFill>
            <a:srgbClr val="3FA7D6"/>
          </a:solidFill>
          <a:ln/>
        </p:spPr>
      </p:sp>
      <p:sp>
        <p:nvSpPr>
          <p:cNvPr id="13" name="Shape 11"/>
          <p:cNvSpPr/>
          <p:nvPr/>
        </p:nvSpPr>
        <p:spPr>
          <a:xfrm>
            <a:off x="6446520" y="1600200"/>
            <a:ext cx="1691640" cy="960120"/>
          </a:xfrm>
          <a:prstGeom prst="roundRect">
            <a:avLst>
              <a:gd name="adj" fmla="val 6667"/>
            </a:avLst>
          </a:prstGeom>
          <a:solidFill>
            <a:srgbClr val="2F8F5B"/>
          </a:solidFill>
          <a:ln/>
        </p:spPr>
      </p:sp>
      <p:sp>
        <p:nvSpPr>
          <p:cNvPr id="14" name="Text 12"/>
          <p:cNvSpPr/>
          <p:nvPr/>
        </p:nvSpPr>
        <p:spPr>
          <a:xfrm>
            <a:off x="6492240" y="1600200"/>
            <a:ext cx="1600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Render</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cloud deploy</a:t>
            </a:r>
            <a:endParaRPr lang="en-US" sz="1300" dirty="0"/>
          </a:p>
        </p:txBody>
      </p:sp>
      <p:sp>
        <p:nvSpPr>
          <p:cNvPr id="15" name="Shape 13"/>
          <p:cNvSpPr/>
          <p:nvPr/>
        </p:nvSpPr>
        <p:spPr>
          <a:xfrm>
            <a:off x="8156448" y="2007108"/>
            <a:ext cx="100584" cy="146304"/>
          </a:xfrm>
          <a:prstGeom prst="rightArrow">
            <a:avLst/>
          </a:prstGeom>
          <a:solidFill>
            <a:srgbClr val="3FA7D6"/>
          </a:solidFill>
          <a:ln/>
        </p:spPr>
      </p:sp>
      <p:sp>
        <p:nvSpPr>
          <p:cNvPr id="16" name="Shape 14"/>
          <p:cNvSpPr/>
          <p:nvPr/>
        </p:nvSpPr>
        <p:spPr>
          <a:xfrm>
            <a:off x="8412480" y="1600200"/>
            <a:ext cx="1691640" cy="960120"/>
          </a:xfrm>
          <a:prstGeom prst="roundRect">
            <a:avLst>
              <a:gd name="adj" fmla="val 6667"/>
            </a:avLst>
          </a:prstGeom>
          <a:solidFill>
            <a:srgbClr val="2E8B57"/>
          </a:solidFill>
          <a:ln/>
        </p:spPr>
      </p:sp>
      <p:sp>
        <p:nvSpPr>
          <p:cNvPr id="17" name="Text 15"/>
          <p:cNvSpPr/>
          <p:nvPr/>
        </p:nvSpPr>
        <p:spPr>
          <a:xfrm>
            <a:off x="8458200" y="1600200"/>
            <a:ext cx="1600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Public API</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/predict</a:t>
            </a:r>
            <a:endParaRPr lang="en-US" sz="1300" dirty="0"/>
          </a:p>
        </p:txBody>
      </p:sp>
      <p:sp>
        <p:nvSpPr>
          <p:cNvPr id="18" name="Shape 16"/>
          <p:cNvSpPr/>
          <p:nvPr/>
        </p:nvSpPr>
        <p:spPr>
          <a:xfrm>
            <a:off x="10122408" y="2007108"/>
            <a:ext cx="100584" cy="146304"/>
          </a:xfrm>
          <a:prstGeom prst="rightArrow">
            <a:avLst/>
          </a:prstGeom>
          <a:solidFill>
            <a:srgbClr val="3FA7D6"/>
          </a:solidFill>
          <a:ln/>
        </p:spPr>
      </p:sp>
      <p:sp>
        <p:nvSpPr>
          <p:cNvPr id="19" name="Shape 17"/>
          <p:cNvSpPr/>
          <p:nvPr/>
        </p:nvSpPr>
        <p:spPr>
          <a:xfrm>
            <a:off x="10378440" y="1600200"/>
            <a:ext cx="1691640" cy="960120"/>
          </a:xfrm>
          <a:prstGeom prst="roundRect">
            <a:avLst>
              <a:gd name="adj" fmla="val 6667"/>
            </a:avLst>
          </a:prstGeom>
          <a:solidFill>
            <a:srgbClr val="3A4A78"/>
          </a:solidFill>
          <a:ln/>
        </p:spPr>
      </p:sp>
      <p:sp>
        <p:nvSpPr>
          <p:cNvPr id="20" name="Text 18"/>
          <p:cNvSpPr/>
          <p:nvPr/>
        </p:nvSpPr>
        <p:spPr>
          <a:xfrm>
            <a:off x="10424160" y="1600200"/>
            <a:ext cx="1600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End Users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requests</a:t>
            </a:r>
            <a:endParaRPr lang="en-US" sz="1300" dirty="0"/>
          </a:p>
        </p:txBody>
      </p:sp>
      <p:sp>
        <p:nvSpPr>
          <p:cNvPr id="21" name="Shape 19"/>
          <p:cNvSpPr/>
          <p:nvPr/>
        </p:nvSpPr>
        <p:spPr>
          <a:xfrm>
            <a:off x="8412480" y="4206240"/>
            <a:ext cx="1828800" cy="960120"/>
          </a:xfrm>
          <a:prstGeom prst="roundRect">
            <a:avLst>
              <a:gd name="adj" fmla="val 6667"/>
            </a:avLst>
          </a:prstGeom>
          <a:solidFill>
            <a:srgbClr val="3A4A78"/>
          </a:solidFill>
          <a:ln/>
        </p:spPr>
      </p:sp>
      <p:sp>
        <p:nvSpPr>
          <p:cNvPr id="22" name="Text 20"/>
          <p:cNvSpPr/>
          <p:nvPr/>
        </p:nvSpPr>
        <p:spPr>
          <a:xfrm>
            <a:off x="8458200" y="4206240"/>
            <a:ext cx="17373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Prediction Log</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/predictions/export</a:t>
            </a:r>
            <a:endParaRPr lang="en-US" sz="1300" dirty="0"/>
          </a:p>
        </p:txBody>
      </p:sp>
      <p:sp>
        <p:nvSpPr>
          <p:cNvPr id="23" name="Shape 21"/>
          <p:cNvSpPr/>
          <p:nvPr/>
        </p:nvSpPr>
        <p:spPr>
          <a:xfrm>
            <a:off x="6263640" y="4206240"/>
            <a:ext cx="1828800" cy="960120"/>
          </a:xfrm>
          <a:prstGeom prst="roundRect">
            <a:avLst>
              <a:gd name="adj" fmla="val 6667"/>
            </a:avLst>
          </a:prstGeom>
          <a:solidFill>
            <a:srgbClr val="C1440E"/>
          </a:solidFill>
          <a:ln/>
        </p:spPr>
      </p:sp>
      <p:sp>
        <p:nvSpPr>
          <p:cNvPr id="24" name="Text 22"/>
          <p:cNvSpPr/>
          <p:nvPr/>
        </p:nvSpPr>
        <p:spPr>
          <a:xfrm>
            <a:off x="6309360" y="4206240"/>
            <a:ext cx="17373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Drift Monitor</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EvidentlyAI, daily</a:t>
            </a:r>
            <a:endParaRPr lang="en-US" sz="1300" dirty="0"/>
          </a:p>
        </p:txBody>
      </p:sp>
      <p:sp>
        <p:nvSpPr>
          <p:cNvPr id="25" name="Shape 23"/>
          <p:cNvSpPr/>
          <p:nvPr/>
        </p:nvSpPr>
        <p:spPr>
          <a:xfrm>
            <a:off x="4114800" y="4206240"/>
            <a:ext cx="1828800" cy="960120"/>
          </a:xfrm>
          <a:prstGeom prst="roundRect">
            <a:avLst>
              <a:gd name="adj" fmla="val 6667"/>
            </a:avLst>
          </a:prstGeom>
          <a:solidFill>
            <a:srgbClr val="1C7293"/>
          </a:solidFill>
          <a:ln/>
        </p:spPr>
      </p:sp>
      <p:sp>
        <p:nvSpPr>
          <p:cNvPr id="26" name="Text 24"/>
          <p:cNvSpPr/>
          <p:nvPr/>
        </p:nvSpPr>
        <p:spPr>
          <a:xfrm>
            <a:off x="4160520" y="4206240"/>
            <a:ext cx="17373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Retrain Workflow</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full dataset</a:t>
            </a:r>
            <a:endParaRPr lang="en-US" sz="1300" dirty="0"/>
          </a:p>
        </p:txBody>
      </p:sp>
      <p:sp>
        <p:nvSpPr>
          <p:cNvPr id="27" name="Shape 25"/>
          <p:cNvSpPr/>
          <p:nvPr/>
        </p:nvSpPr>
        <p:spPr>
          <a:xfrm>
            <a:off x="1965960" y="4206240"/>
            <a:ext cx="1828800" cy="960120"/>
          </a:xfrm>
          <a:prstGeom prst="roundRect">
            <a:avLst>
              <a:gd name="adj" fmla="val 6667"/>
            </a:avLst>
          </a:prstGeom>
          <a:solidFill>
            <a:srgbClr val="065A82"/>
          </a:solidFill>
          <a:ln/>
        </p:spPr>
      </p:sp>
      <p:sp>
        <p:nvSpPr>
          <p:cNvPr id="28" name="Text 26"/>
          <p:cNvSpPr/>
          <p:nvPr/>
        </p:nvSpPr>
        <p:spPr>
          <a:xfrm>
            <a:off x="2011680" y="4206240"/>
            <a:ext cx="17373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Guardrail + PR</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promote_model.py</a:t>
            </a:r>
            <a:endParaRPr lang="en-US" sz="1300" dirty="0"/>
          </a:p>
        </p:txBody>
      </p:sp>
      <p:sp>
        <p:nvSpPr>
          <p:cNvPr id="29" name="Shape 27"/>
          <p:cNvSpPr/>
          <p:nvPr/>
        </p:nvSpPr>
        <p:spPr>
          <a:xfrm>
            <a:off x="8092440" y="4613148"/>
            <a:ext cx="292608" cy="146304"/>
          </a:xfrm>
          <a:prstGeom prst="leftArrow">
            <a:avLst/>
          </a:prstGeom>
          <a:solidFill>
            <a:srgbClr val="3FA7D6"/>
          </a:solidFill>
          <a:ln/>
        </p:spPr>
      </p:sp>
      <p:sp>
        <p:nvSpPr>
          <p:cNvPr id="30" name="Shape 28"/>
          <p:cNvSpPr/>
          <p:nvPr/>
        </p:nvSpPr>
        <p:spPr>
          <a:xfrm>
            <a:off x="5943600" y="4613148"/>
            <a:ext cx="292608" cy="146304"/>
          </a:xfrm>
          <a:prstGeom prst="leftArrow">
            <a:avLst/>
          </a:prstGeom>
          <a:solidFill>
            <a:srgbClr val="3FA7D6"/>
          </a:solidFill>
          <a:ln/>
        </p:spPr>
      </p:sp>
      <p:sp>
        <p:nvSpPr>
          <p:cNvPr id="31" name="Shape 29"/>
          <p:cNvSpPr/>
          <p:nvPr/>
        </p:nvSpPr>
        <p:spPr>
          <a:xfrm>
            <a:off x="3794760" y="4613148"/>
            <a:ext cx="292608" cy="146304"/>
          </a:xfrm>
          <a:prstGeom prst="leftArrow">
            <a:avLst/>
          </a:prstGeom>
          <a:solidFill>
            <a:srgbClr val="3FA7D6"/>
          </a:solidFill>
          <a:ln/>
        </p:spPr>
      </p:sp>
      <p:sp>
        <p:nvSpPr>
          <p:cNvPr id="32" name="Shape 30"/>
          <p:cNvSpPr/>
          <p:nvPr/>
        </p:nvSpPr>
        <p:spPr>
          <a:xfrm rot="5400000">
            <a:off x="9235440" y="2560320"/>
            <a:ext cx="137160" cy="1645920"/>
          </a:xfrm>
          <a:prstGeom prst="bentConnector2">
            <a:avLst/>
          </a:prstGeom>
          <a:noFill/>
          <a:ln w="19050">
            <a:solidFill>
              <a:srgbClr val="3FA7D6"/>
            </a:solidFill>
            <a:prstDash val="dash"/>
          </a:ln>
        </p:spPr>
      </p:sp>
      <p:sp>
        <p:nvSpPr>
          <p:cNvPr id="33" name="Shape 31"/>
          <p:cNvSpPr/>
          <p:nvPr/>
        </p:nvSpPr>
        <p:spPr>
          <a:xfrm flipH="1">
            <a:off x="1371600" y="2560320"/>
            <a:ext cx="1463040" cy="1645920"/>
          </a:xfrm>
          <a:prstGeom prst="bentConnector2">
            <a:avLst/>
          </a:prstGeom>
          <a:noFill/>
          <a:ln w="19050">
            <a:solidFill>
              <a:srgbClr val="3FA7D6"/>
            </a:solidFill>
            <a:prstDash val="dash"/>
          </a:ln>
        </p:spPr>
      </p:sp>
      <p:sp>
        <p:nvSpPr>
          <p:cNvPr id="34" name="Text 32"/>
          <p:cNvSpPr/>
          <p:nvPr/>
        </p:nvSpPr>
        <p:spPr>
          <a:xfrm>
            <a:off x="137160" y="5349240"/>
            <a:ext cx="3017520" cy="320040"/>
          </a:xfrm>
          <a:prstGeom prst="rect">
            <a:avLst/>
          </a:prstGeom>
          <a:noFill/>
          <a:ln/>
        </p:spPr>
        <p:txBody>
          <a:bodyPr wrap="square" lIns="0" tIns="0" rIns="0" bIns="0" rtlCol="0" anchor="ctr"/>
          <a:lstStyle/>
          <a:p>
            <a:pPr indent="0" marL="0">
              <a:buNone/>
            </a:pPr>
            <a:r>
              <a:rPr lang="en-US" sz="1050" i="1" dirty="0">
                <a:solidFill>
                  <a:srgbClr val="9FB3D6"/>
                </a:solidFill>
                <a:latin typeface="Calibri" pitchFamily="34" charset="0"/>
                <a:ea typeface="Calibri" pitchFamily="34" charset="-122"/>
                <a:cs typeface="Calibri" pitchFamily="34" charset="-120"/>
              </a:rPr>
              <a:t>closes the loop → back to GitHub as a PR</a:t>
            </a:r>
            <a:endParaRPr lang="en-US" sz="1050" dirty="0"/>
          </a:p>
        </p:txBody>
      </p:sp>
      <p:sp>
        <p:nvSpPr>
          <p:cNvPr id="35" name="Text 33"/>
          <p:cNvSpPr/>
          <p:nvPr/>
        </p:nvSpPr>
        <p:spPr>
          <a:xfrm>
            <a:off x="548640" y="6172200"/>
            <a:ext cx="10515600" cy="320040"/>
          </a:xfrm>
          <a:prstGeom prst="rect">
            <a:avLst/>
          </a:prstGeom>
          <a:noFill/>
          <a:ln/>
        </p:spPr>
        <p:txBody>
          <a:bodyPr wrap="square" lIns="0" tIns="0" rIns="0" bIns="0" rtlCol="0" anchor="ctr"/>
          <a:lstStyle/>
          <a:p>
            <a:pPr indent="0" marL="0">
              <a:buNone/>
            </a:pPr>
            <a:r>
              <a:rPr lang="en-US" sz="1100" i="1" dirty="0">
                <a:solidFill>
                  <a:srgbClr val="9FB3D6"/>
                </a:solidFill>
                <a:latin typeface="Calibri" pitchFamily="34" charset="0"/>
                <a:ea typeface="Calibri" pitchFamily="34" charset="-122"/>
                <a:cs typeface="Calibri" pitchFamily="34" charset="-120"/>
              </a:rPr>
              <a:t>Solid arrows: request path (deploy + inference).  Dashed: monitoring + retraining feedback loop.</a:t>
            </a:r>
            <a:endParaRPr lang="en-US" sz="1100" dirty="0"/>
          </a:p>
        </p:txBody>
      </p:sp>
      <p:sp>
        <p:nvSpPr>
          <p:cNvPr id="36" name="Text 34"/>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37" name="Text 35"/>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DELIVERABLE 1</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FastAPI Inference Service</a:t>
            </a:r>
            <a:endParaRPr lang="en-US" sz="3000" dirty="0"/>
          </a:p>
        </p:txBody>
      </p:sp>
      <p:sp>
        <p:nvSpPr>
          <p:cNvPr id="4" name="Shape 2"/>
          <p:cNvSpPr/>
          <p:nvPr/>
        </p:nvSpPr>
        <p:spPr>
          <a:xfrm>
            <a:off x="548640" y="1463040"/>
            <a:ext cx="5120640" cy="4754880"/>
          </a:xfrm>
          <a:prstGeom prst="roundRect">
            <a:avLst>
              <a:gd name="adj" fmla="val 1538"/>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Text 3"/>
          <p:cNvSpPr/>
          <p:nvPr/>
        </p:nvSpPr>
        <p:spPr>
          <a:xfrm>
            <a:off x="868680" y="1691640"/>
            <a:ext cx="457200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Endpoints</a:t>
            </a:r>
            <a:endParaRPr lang="en-US" sz="1400" dirty="0"/>
          </a:p>
        </p:txBody>
      </p:sp>
      <p:sp>
        <p:nvSpPr>
          <p:cNvPr id="6" name="Shape 4"/>
          <p:cNvSpPr/>
          <p:nvPr/>
        </p:nvSpPr>
        <p:spPr>
          <a:xfrm>
            <a:off x="868680" y="2148840"/>
            <a:ext cx="658368" cy="310896"/>
          </a:xfrm>
          <a:prstGeom prst="roundRect">
            <a:avLst>
              <a:gd name="adj" fmla="val 14706"/>
            </a:avLst>
          </a:prstGeom>
          <a:solidFill>
            <a:srgbClr val="2E8B57"/>
          </a:solidFill>
          <a:ln/>
        </p:spPr>
      </p:sp>
      <p:sp>
        <p:nvSpPr>
          <p:cNvPr id="7" name="Text 5"/>
          <p:cNvSpPr/>
          <p:nvPr/>
        </p:nvSpPr>
        <p:spPr>
          <a:xfrm>
            <a:off x="868680" y="2148840"/>
            <a:ext cx="65836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GET</a:t>
            </a:r>
            <a:endParaRPr lang="en-US" sz="1050" dirty="0"/>
          </a:p>
        </p:txBody>
      </p:sp>
      <p:sp>
        <p:nvSpPr>
          <p:cNvPr id="8" name="Text 6"/>
          <p:cNvSpPr/>
          <p:nvPr/>
        </p:nvSpPr>
        <p:spPr>
          <a:xfrm>
            <a:off x="1645920" y="2148840"/>
            <a:ext cx="2103120" cy="310896"/>
          </a:xfrm>
          <a:prstGeom prst="rect">
            <a:avLst/>
          </a:prstGeom>
          <a:noFill/>
          <a:ln/>
        </p:spPr>
        <p:txBody>
          <a:bodyPr wrap="square" lIns="0" tIns="0" rIns="0" bIns="0" rtlCol="0" anchor="ctr"/>
          <a:lstStyle/>
          <a:p>
            <a:pPr indent="0" marL="0">
              <a:buNone/>
            </a:pPr>
            <a:r>
              <a:rPr lang="en-US" sz="1250" dirty="0">
                <a:solidFill>
                  <a:srgbClr val="16213E"/>
                </a:solidFill>
                <a:latin typeface="Courier New" pitchFamily="34" charset="0"/>
                <a:ea typeface="Courier New" pitchFamily="34" charset="-122"/>
                <a:cs typeface="Courier New" pitchFamily="34" charset="-120"/>
              </a:rPr>
              <a:t>/health</a:t>
            </a:r>
            <a:endParaRPr lang="en-US" sz="1250" dirty="0"/>
          </a:p>
        </p:txBody>
      </p:sp>
      <p:sp>
        <p:nvSpPr>
          <p:cNvPr id="9" name="Text 7"/>
          <p:cNvSpPr/>
          <p:nvPr/>
        </p:nvSpPr>
        <p:spPr>
          <a:xfrm>
            <a:off x="3794760" y="2148840"/>
            <a:ext cx="2103120" cy="310896"/>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liveness + model status</a:t>
            </a:r>
            <a:endParaRPr lang="en-US" sz="1050" dirty="0"/>
          </a:p>
        </p:txBody>
      </p:sp>
      <p:sp>
        <p:nvSpPr>
          <p:cNvPr id="10" name="Shape 8"/>
          <p:cNvSpPr/>
          <p:nvPr/>
        </p:nvSpPr>
        <p:spPr>
          <a:xfrm>
            <a:off x="868680" y="2660904"/>
            <a:ext cx="658368" cy="310896"/>
          </a:xfrm>
          <a:prstGeom prst="roundRect">
            <a:avLst>
              <a:gd name="adj" fmla="val 14706"/>
            </a:avLst>
          </a:prstGeom>
          <a:solidFill>
            <a:srgbClr val="065A82"/>
          </a:solidFill>
          <a:ln/>
        </p:spPr>
      </p:sp>
      <p:sp>
        <p:nvSpPr>
          <p:cNvPr id="11" name="Text 9"/>
          <p:cNvSpPr/>
          <p:nvPr/>
        </p:nvSpPr>
        <p:spPr>
          <a:xfrm>
            <a:off x="868680" y="2660904"/>
            <a:ext cx="65836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a:t>
            </a:r>
            <a:endParaRPr lang="en-US" sz="1050" dirty="0"/>
          </a:p>
        </p:txBody>
      </p:sp>
      <p:sp>
        <p:nvSpPr>
          <p:cNvPr id="12" name="Text 10"/>
          <p:cNvSpPr/>
          <p:nvPr/>
        </p:nvSpPr>
        <p:spPr>
          <a:xfrm>
            <a:off x="1645920" y="2660904"/>
            <a:ext cx="2103120" cy="310896"/>
          </a:xfrm>
          <a:prstGeom prst="rect">
            <a:avLst/>
          </a:prstGeom>
          <a:noFill/>
          <a:ln/>
        </p:spPr>
        <p:txBody>
          <a:bodyPr wrap="square" lIns="0" tIns="0" rIns="0" bIns="0" rtlCol="0" anchor="ctr"/>
          <a:lstStyle/>
          <a:p>
            <a:pPr indent="0" marL="0">
              <a:buNone/>
            </a:pPr>
            <a:r>
              <a:rPr lang="en-US" sz="1250" dirty="0">
                <a:solidFill>
                  <a:srgbClr val="16213E"/>
                </a:solidFill>
                <a:latin typeface="Courier New" pitchFamily="34" charset="0"/>
                <a:ea typeface="Courier New" pitchFamily="34" charset="-122"/>
                <a:cs typeface="Courier New" pitchFamily="34" charset="-120"/>
              </a:rPr>
              <a:t>/predict</a:t>
            </a:r>
            <a:endParaRPr lang="en-US" sz="1250" dirty="0"/>
          </a:p>
        </p:txBody>
      </p:sp>
      <p:sp>
        <p:nvSpPr>
          <p:cNvPr id="13" name="Text 11"/>
          <p:cNvSpPr/>
          <p:nvPr/>
        </p:nvSpPr>
        <p:spPr>
          <a:xfrm>
            <a:off x="3794760" y="2660904"/>
            <a:ext cx="2103120" cy="310896"/>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single-text sentiment</a:t>
            </a:r>
            <a:endParaRPr lang="en-US" sz="1050" dirty="0"/>
          </a:p>
        </p:txBody>
      </p:sp>
      <p:sp>
        <p:nvSpPr>
          <p:cNvPr id="14" name="Shape 12"/>
          <p:cNvSpPr/>
          <p:nvPr/>
        </p:nvSpPr>
        <p:spPr>
          <a:xfrm>
            <a:off x="868680" y="3172968"/>
            <a:ext cx="658368" cy="310896"/>
          </a:xfrm>
          <a:prstGeom prst="roundRect">
            <a:avLst>
              <a:gd name="adj" fmla="val 14706"/>
            </a:avLst>
          </a:prstGeom>
          <a:solidFill>
            <a:srgbClr val="065A82"/>
          </a:solidFill>
          <a:ln/>
        </p:spPr>
      </p:sp>
      <p:sp>
        <p:nvSpPr>
          <p:cNvPr id="15" name="Text 13"/>
          <p:cNvSpPr/>
          <p:nvPr/>
        </p:nvSpPr>
        <p:spPr>
          <a:xfrm>
            <a:off x="868680" y="3172968"/>
            <a:ext cx="65836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a:t>
            </a:r>
            <a:endParaRPr lang="en-US" sz="1050" dirty="0"/>
          </a:p>
        </p:txBody>
      </p:sp>
      <p:sp>
        <p:nvSpPr>
          <p:cNvPr id="16" name="Text 14"/>
          <p:cNvSpPr/>
          <p:nvPr/>
        </p:nvSpPr>
        <p:spPr>
          <a:xfrm>
            <a:off x="1645920" y="3172968"/>
            <a:ext cx="2103120" cy="310896"/>
          </a:xfrm>
          <a:prstGeom prst="rect">
            <a:avLst/>
          </a:prstGeom>
          <a:noFill/>
          <a:ln/>
        </p:spPr>
        <p:txBody>
          <a:bodyPr wrap="square" lIns="0" tIns="0" rIns="0" bIns="0" rtlCol="0" anchor="ctr"/>
          <a:lstStyle/>
          <a:p>
            <a:pPr indent="0" marL="0">
              <a:buNone/>
            </a:pPr>
            <a:r>
              <a:rPr lang="en-US" sz="1250" dirty="0">
                <a:solidFill>
                  <a:srgbClr val="16213E"/>
                </a:solidFill>
                <a:latin typeface="Courier New" pitchFamily="34" charset="0"/>
                <a:ea typeface="Courier New" pitchFamily="34" charset="-122"/>
                <a:cs typeface="Courier New" pitchFamily="34" charset="-120"/>
              </a:rPr>
              <a:t>/predict/batch</a:t>
            </a:r>
            <a:endParaRPr lang="en-US" sz="1250" dirty="0"/>
          </a:p>
        </p:txBody>
      </p:sp>
      <p:sp>
        <p:nvSpPr>
          <p:cNvPr id="17" name="Text 15"/>
          <p:cNvSpPr/>
          <p:nvPr/>
        </p:nvSpPr>
        <p:spPr>
          <a:xfrm>
            <a:off x="3794760" y="3172968"/>
            <a:ext cx="2103120" cy="310896"/>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up to 100 texts</a:t>
            </a:r>
            <a:endParaRPr lang="en-US" sz="1050" dirty="0"/>
          </a:p>
        </p:txBody>
      </p:sp>
      <p:sp>
        <p:nvSpPr>
          <p:cNvPr id="18" name="Shape 16"/>
          <p:cNvSpPr/>
          <p:nvPr/>
        </p:nvSpPr>
        <p:spPr>
          <a:xfrm>
            <a:off x="868680" y="3685032"/>
            <a:ext cx="658368" cy="310896"/>
          </a:xfrm>
          <a:prstGeom prst="roundRect">
            <a:avLst>
              <a:gd name="adj" fmla="val 14706"/>
            </a:avLst>
          </a:prstGeom>
          <a:solidFill>
            <a:srgbClr val="1C7293"/>
          </a:solidFill>
          <a:ln/>
        </p:spPr>
      </p:sp>
      <p:sp>
        <p:nvSpPr>
          <p:cNvPr id="19" name="Text 17"/>
          <p:cNvSpPr/>
          <p:nvPr/>
        </p:nvSpPr>
        <p:spPr>
          <a:xfrm>
            <a:off x="868680" y="3685032"/>
            <a:ext cx="65836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GET</a:t>
            </a:r>
            <a:endParaRPr lang="en-US" sz="1050" dirty="0"/>
          </a:p>
        </p:txBody>
      </p:sp>
      <p:sp>
        <p:nvSpPr>
          <p:cNvPr id="20" name="Text 18"/>
          <p:cNvSpPr/>
          <p:nvPr/>
        </p:nvSpPr>
        <p:spPr>
          <a:xfrm>
            <a:off x="1645920" y="3685032"/>
            <a:ext cx="2103120" cy="310896"/>
          </a:xfrm>
          <a:prstGeom prst="rect">
            <a:avLst/>
          </a:prstGeom>
          <a:noFill/>
          <a:ln/>
        </p:spPr>
        <p:txBody>
          <a:bodyPr wrap="square" lIns="0" tIns="0" rIns="0" bIns="0" rtlCol="0" anchor="ctr"/>
          <a:lstStyle/>
          <a:p>
            <a:pPr indent="0" marL="0">
              <a:buNone/>
            </a:pPr>
            <a:r>
              <a:rPr lang="en-US" sz="1250" dirty="0">
                <a:solidFill>
                  <a:srgbClr val="16213E"/>
                </a:solidFill>
                <a:latin typeface="Courier New" pitchFamily="34" charset="0"/>
                <a:ea typeface="Courier New" pitchFamily="34" charset="-122"/>
                <a:cs typeface="Courier New" pitchFamily="34" charset="-120"/>
              </a:rPr>
              <a:t>/predictions/export</a:t>
            </a:r>
            <a:endParaRPr lang="en-US" sz="1250" dirty="0"/>
          </a:p>
        </p:txBody>
      </p:sp>
      <p:sp>
        <p:nvSpPr>
          <p:cNvPr id="21" name="Text 19"/>
          <p:cNvSpPr/>
          <p:nvPr/>
        </p:nvSpPr>
        <p:spPr>
          <a:xfrm>
            <a:off x="3794760" y="3685032"/>
            <a:ext cx="2103120" cy="310896"/>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recent logs (for drift)</a:t>
            </a:r>
            <a:endParaRPr lang="en-US" sz="1050" dirty="0"/>
          </a:p>
        </p:txBody>
      </p:sp>
      <p:sp>
        <p:nvSpPr>
          <p:cNvPr id="22" name="Shape 20"/>
          <p:cNvSpPr/>
          <p:nvPr/>
        </p:nvSpPr>
        <p:spPr>
          <a:xfrm>
            <a:off x="868680" y="4197096"/>
            <a:ext cx="658368" cy="310896"/>
          </a:xfrm>
          <a:prstGeom prst="roundRect">
            <a:avLst>
              <a:gd name="adj" fmla="val 14706"/>
            </a:avLst>
          </a:prstGeom>
          <a:solidFill>
            <a:srgbClr val="5B6B85"/>
          </a:solidFill>
          <a:ln/>
        </p:spPr>
      </p:sp>
      <p:sp>
        <p:nvSpPr>
          <p:cNvPr id="23" name="Text 21"/>
          <p:cNvSpPr/>
          <p:nvPr/>
        </p:nvSpPr>
        <p:spPr>
          <a:xfrm>
            <a:off x="868680" y="4197096"/>
            <a:ext cx="65836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GET</a:t>
            </a:r>
            <a:endParaRPr lang="en-US" sz="1050" dirty="0"/>
          </a:p>
        </p:txBody>
      </p:sp>
      <p:sp>
        <p:nvSpPr>
          <p:cNvPr id="24" name="Text 22"/>
          <p:cNvSpPr/>
          <p:nvPr/>
        </p:nvSpPr>
        <p:spPr>
          <a:xfrm>
            <a:off x="1645920" y="4197096"/>
            <a:ext cx="2103120" cy="310896"/>
          </a:xfrm>
          <a:prstGeom prst="rect">
            <a:avLst/>
          </a:prstGeom>
          <a:noFill/>
          <a:ln/>
        </p:spPr>
        <p:txBody>
          <a:bodyPr wrap="square" lIns="0" tIns="0" rIns="0" bIns="0" rtlCol="0" anchor="ctr"/>
          <a:lstStyle/>
          <a:p>
            <a:pPr indent="0" marL="0">
              <a:buNone/>
            </a:pPr>
            <a:r>
              <a:rPr lang="en-US" sz="1250" dirty="0">
                <a:solidFill>
                  <a:srgbClr val="16213E"/>
                </a:solidFill>
                <a:latin typeface="Courier New" pitchFamily="34" charset="0"/>
                <a:ea typeface="Courier New" pitchFamily="34" charset="-122"/>
                <a:cs typeface="Courier New" pitchFamily="34" charset="-120"/>
              </a:rPr>
              <a:t>/docs</a:t>
            </a:r>
            <a:endParaRPr lang="en-US" sz="1250" dirty="0"/>
          </a:p>
        </p:txBody>
      </p:sp>
      <p:sp>
        <p:nvSpPr>
          <p:cNvPr id="25" name="Text 23"/>
          <p:cNvSpPr/>
          <p:nvPr/>
        </p:nvSpPr>
        <p:spPr>
          <a:xfrm>
            <a:off x="3794760" y="4197096"/>
            <a:ext cx="2103120" cy="310896"/>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interactive Swagger UI</a:t>
            </a:r>
            <a:endParaRPr lang="en-US" sz="1050" dirty="0"/>
          </a:p>
        </p:txBody>
      </p:sp>
      <p:sp>
        <p:nvSpPr>
          <p:cNvPr id="26" name="Text 24"/>
          <p:cNvSpPr/>
          <p:nvPr/>
        </p:nvSpPr>
        <p:spPr>
          <a:xfrm>
            <a:off x="868680" y="4846320"/>
            <a:ext cx="4572000" cy="82296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Text is cleaned with the exact same function src/prepare.py uses at training time — no train/serve preprocessing skew.</a:t>
            </a:r>
            <a:endParaRPr lang="en-US" sz="1200" dirty="0"/>
          </a:p>
        </p:txBody>
      </p:sp>
      <p:sp>
        <p:nvSpPr>
          <p:cNvPr id="27" name="Shape 25"/>
          <p:cNvSpPr/>
          <p:nvPr/>
        </p:nvSpPr>
        <p:spPr>
          <a:xfrm>
            <a:off x="5852160" y="1463040"/>
            <a:ext cx="5760720" cy="4754880"/>
          </a:xfrm>
          <a:prstGeom prst="roundRect">
            <a:avLst>
              <a:gd name="adj" fmla="val 1538"/>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28" name="Text 26"/>
          <p:cNvSpPr/>
          <p:nvPr/>
        </p:nvSpPr>
        <p:spPr>
          <a:xfrm>
            <a:off x="6172200" y="1691640"/>
            <a:ext cx="4572000" cy="274320"/>
          </a:xfrm>
          <a:prstGeom prst="rect">
            <a:avLst/>
          </a:prstGeom>
          <a:noFill/>
          <a:ln/>
        </p:spPr>
        <p:txBody>
          <a:bodyPr wrap="square" lIns="0" tIns="0" rIns="0" bIns="0" rtlCol="0" anchor="ctr"/>
          <a:lstStyle/>
          <a:p>
            <a:pPr indent="0" marL="0">
              <a:buNone/>
            </a:pPr>
            <a:r>
              <a:rPr lang="en-US" sz="1200" b="1" spc="100" kern="0" dirty="0">
                <a:solidFill>
                  <a:srgbClr val="3FA7D6"/>
                </a:solidFill>
                <a:latin typeface="Calibri" pitchFamily="34" charset="0"/>
                <a:ea typeface="Calibri" pitchFamily="34" charset="-122"/>
                <a:cs typeface="Calibri" pitchFamily="34" charset="-120"/>
              </a:rPr>
              <a:t>Live example</a:t>
            </a:r>
            <a:endParaRPr lang="en-US" sz="1200" dirty="0"/>
          </a:p>
        </p:txBody>
      </p:sp>
      <p:sp>
        <p:nvSpPr>
          <p:cNvPr id="29" name="Text 27"/>
          <p:cNvSpPr/>
          <p:nvPr/>
        </p:nvSpPr>
        <p:spPr>
          <a:xfrm>
            <a:off x="6172200" y="2057400"/>
            <a:ext cx="4572000" cy="320040"/>
          </a:xfrm>
          <a:prstGeom prst="rect">
            <a:avLst/>
          </a:prstGeom>
          <a:noFill/>
          <a:ln/>
        </p:spPr>
        <p:txBody>
          <a:bodyPr wrap="square" lIns="0" tIns="0" rIns="0" bIns="0" rtlCol="0" anchor="ctr"/>
          <a:lstStyle/>
          <a:p>
            <a:pPr indent="0" marL="0">
              <a:buNone/>
            </a:pPr>
            <a:r>
              <a:rPr lang="en-US" sz="1300" b="1" dirty="0">
                <a:solidFill>
                  <a:srgbClr val="7CD4FF"/>
                </a:solidFill>
                <a:latin typeface="Courier New" pitchFamily="34" charset="0"/>
                <a:ea typeface="Courier New" pitchFamily="34" charset="-122"/>
                <a:cs typeface="Courier New" pitchFamily="34" charset="-120"/>
              </a:rPr>
              <a:t>POST /predict</a:t>
            </a:r>
            <a:endParaRPr lang="en-US" sz="1300" dirty="0"/>
          </a:p>
        </p:txBody>
      </p:sp>
      <p:sp>
        <p:nvSpPr>
          <p:cNvPr id="30" name="Shape 28"/>
          <p:cNvSpPr/>
          <p:nvPr/>
        </p:nvSpPr>
        <p:spPr>
          <a:xfrm>
            <a:off x="6172200" y="2423160"/>
            <a:ext cx="5120640" cy="1051560"/>
          </a:xfrm>
          <a:prstGeom prst="roundRect">
            <a:avLst>
              <a:gd name="adj" fmla="val 4348"/>
            </a:avLst>
          </a:prstGeom>
          <a:solidFill>
            <a:srgbClr val="0A1F38"/>
          </a:solidFill>
          <a:ln/>
        </p:spPr>
      </p:sp>
      <p:sp>
        <p:nvSpPr>
          <p:cNvPr id="31" name="Text 29"/>
          <p:cNvSpPr/>
          <p:nvPr/>
        </p:nvSpPr>
        <p:spPr>
          <a:xfrm>
            <a:off x="6355080" y="2423160"/>
            <a:ext cx="4754880" cy="1051560"/>
          </a:xfrm>
          <a:prstGeom prst="rect">
            <a:avLst/>
          </a:prstGeom>
          <a:noFill/>
          <a:ln/>
        </p:spPr>
        <p:txBody>
          <a:bodyPr wrap="square" lIns="0" tIns="0" rIns="0" bIns="0" rtlCol="0" anchor="ctr"/>
          <a:lstStyle/>
          <a:p>
            <a:pPr indent="0" marL="0">
              <a:buNone/>
            </a:pPr>
            <a:r>
              <a:rPr lang="en-US" sz="1200" dirty="0">
                <a:solidFill>
                  <a:srgbClr val="CADCFC"/>
                </a:solidFill>
                <a:latin typeface="Courier New" pitchFamily="34" charset="0"/>
                <a:ea typeface="Courier New" pitchFamily="34" charset="-122"/>
                <a:cs typeface="Courier New" pitchFamily="34" charset="-120"/>
              </a:rPr>
              <a:t>{ "text": "I love this, it works great!" }</a:t>
            </a:r>
            <a:endParaRPr lang="en-US" sz="1200" dirty="0"/>
          </a:p>
        </p:txBody>
      </p:sp>
      <p:sp>
        <p:nvSpPr>
          <p:cNvPr id="32" name="Text 30"/>
          <p:cNvSpPr/>
          <p:nvPr/>
        </p:nvSpPr>
        <p:spPr>
          <a:xfrm>
            <a:off x="6172200" y="3657600"/>
            <a:ext cx="4572000" cy="320040"/>
          </a:xfrm>
          <a:prstGeom prst="rect">
            <a:avLst/>
          </a:prstGeom>
          <a:noFill/>
          <a:ln/>
        </p:spPr>
        <p:txBody>
          <a:bodyPr wrap="square" lIns="0" tIns="0" rIns="0" bIns="0" rtlCol="0" anchor="ctr"/>
          <a:lstStyle/>
          <a:p>
            <a:pPr indent="0" marL="0">
              <a:buNone/>
            </a:pPr>
            <a:r>
              <a:rPr lang="en-US" sz="1300" b="1" dirty="0">
                <a:solidFill>
                  <a:srgbClr val="8CE99A"/>
                </a:solidFill>
                <a:latin typeface="Courier New" pitchFamily="34" charset="0"/>
                <a:ea typeface="Courier New" pitchFamily="34" charset="-122"/>
                <a:cs typeface="Courier New" pitchFamily="34" charset="-120"/>
              </a:rPr>
              <a:t>200 OK</a:t>
            </a:r>
            <a:endParaRPr lang="en-US" sz="1300" dirty="0"/>
          </a:p>
        </p:txBody>
      </p:sp>
      <p:sp>
        <p:nvSpPr>
          <p:cNvPr id="33" name="Shape 31"/>
          <p:cNvSpPr/>
          <p:nvPr/>
        </p:nvSpPr>
        <p:spPr>
          <a:xfrm>
            <a:off x="6172200" y="4023360"/>
            <a:ext cx="5120640" cy="1600200"/>
          </a:xfrm>
          <a:prstGeom prst="roundRect">
            <a:avLst>
              <a:gd name="adj" fmla="val 2857"/>
            </a:avLst>
          </a:prstGeom>
          <a:solidFill>
            <a:srgbClr val="0A1F38"/>
          </a:solidFill>
          <a:ln/>
        </p:spPr>
      </p:sp>
      <p:sp>
        <p:nvSpPr>
          <p:cNvPr id="34" name="Text 32"/>
          <p:cNvSpPr/>
          <p:nvPr/>
        </p:nvSpPr>
        <p:spPr>
          <a:xfrm>
            <a:off x="6355080" y="4160520"/>
            <a:ext cx="4754880" cy="137160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"label": "positive",</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"score": 0.8685,</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"positive_probability": 0.8685,</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"model_version":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35" name="Text 33"/>
          <p:cNvSpPr/>
          <p:nvPr/>
        </p:nvSpPr>
        <p:spPr>
          <a:xfrm>
            <a:off x="6172200" y="5715000"/>
            <a:ext cx="5120640" cy="320040"/>
          </a:xfrm>
          <a:prstGeom prst="rect">
            <a:avLst/>
          </a:prstGeom>
          <a:noFill/>
          <a:ln/>
        </p:spPr>
        <p:txBody>
          <a:bodyPr wrap="square" lIns="0" tIns="0" rIns="0" bIns="0" rtlCol="0" anchor="ctr"/>
          <a:lstStyle/>
          <a:p>
            <a:pPr indent="0" marL="0">
              <a:buNone/>
            </a:pPr>
            <a:r>
              <a:rPr lang="en-US" sz="1050" i="1" dirty="0">
                <a:solidFill>
                  <a:srgbClr val="9FB3D6"/>
                </a:solidFill>
                <a:latin typeface="Calibri" pitchFamily="34" charset="0"/>
                <a:ea typeface="Calibri" pitchFamily="34" charset="-122"/>
                <a:cs typeface="Calibri" pitchFamily="34" charset="-120"/>
              </a:rPr>
              <a:t>^ verified against our trained model in a local test run</a:t>
            </a:r>
            <a:endParaRPr lang="en-US" sz="1050" dirty="0"/>
          </a:p>
        </p:txBody>
      </p:sp>
      <p:sp>
        <p:nvSpPr>
          <p:cNvPr id="36" name="Text 34"/>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37" name="Text 35"/>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DELIVERABLE 1, CONTINUED</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Containerize → Deploy to the Cloud</a:t>
            </a:r>
            <a:endParaRPr lang="en-US" sz="3000" dirty="0"/>
          </a:p>
        </p:txBody>
      </p:sp>
      <p:sp>
        <p:nvSpPr>
          <p:cNvPr id="4" name="Shape 2"/>
          <p:cNvSpPr/>
          <p:nvPr/>
        </p:nvSpPr>
        <p:spPr>
          <a:xfrm>
            <a:off x="548640" y="1463040"/>
            <a:ext cx="5486400" cy="4754880"/>
          </a:xfrm>
          <a:prstGeom prst="roundRect">
            <a:avLst>
              <a:gd name="adj" fmla="val 1538"/>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Text 3"/>
          <p:cNvSpPr/>
          <p:nvPr/>
        </p:nvSpPr>
        <p:spPr>
          <a:xfrm>
            <a:off x="868680" y="1691640"/>
            <a:ext cx="457200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Dockerfile, in short</a:t>
            </a:r>
            <a:endParaRPr lang="en-US" sz="1400" dirty="0"/>
          </a:p>
        </p:txBody>
      </p:sp>
      <p:sp>
        <p:nvSpPr>
          <p:cNvPr id="6" name="Text 4"/>
          <p:cNvSpPr/>
          <p:nvPr/>
        </p:nvSpPr>
        <p:spPr>
          <a:xfrm>
            <a:off x="868680" y="2103120"/>
            <a:ext cx="4892040" cy="23774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6213E"/>
                </a:solidFill>
                <a:latin typeface="Calibri" pitchFamily="34" charset="0"/>
                <a:ea typeface="Calibri" pitchFamily="34" charset="-122"/>
                <a:cs typeface="Calibri" pitchFamily="34" charset="-120"/>
              </a:rPr>
              <a:t>python:3.11-slim base image</a:t>
            </a:r>
            <a:endParaRPr lang="en-US" sz="1350" dirty="0"/>
          </a:p>
          <a:p>
            <a:pPr marL="342900" indent="-342900">
              <a:spcAft>
                <a:spcPts val="1200"/>
              </a:spcAft>
              <a:buSzPct val="100000"/>
              <a:buChar char="●"/>
            </a:pPr>
            <a:r>
              <a:rPr lang="en-US" sz="1350" dirty="0">
                <a:solidFill>
                  <a:srgbClr val="16213E"/>
                </a:solidFill>
                <a:latin typeface="Calibri" pitchFamily="34" charset="0"/>
                <a:ea typeface="Calibri" pitchFamily="34" charset="-122"/>
                <a:cs typeface="Calibri" pitchFamily="34" charset="-120"/>
              </a:rPr>
              <a:t>requirements-api.txt only — no DVC/MLflow in the runtime image</a:t>
            </a:r>
            <a:endParaRPr lang="en-US" sz="1350" dirty="0"/>
          </a:p>
          <a:p>
            <a:pPr marL="342900" indent="-342900">
              <a:spcAft>
                <a:spcPts val="1200"/>
              </a:spcAft>
              <a:buSzPct val="100000"/>
              <a:buChar char="●"/>
            </a:pPr>
            <a:r>
              <a:rPr lang="en-US" sz="1350" dirty="0">
                <a:solidFill>
                  <a:srgbClr val="16213E"/>
                </a:solidFill>
                <a:latin typeface="Calibri" pitchFamily="34" charset="0"/>
                <a:ea typeface="Calibri" pitchFamily="34" charset="-122"/>
                <a:cs typeface="Calibri" pitchFamily="34" charset="-120"/>
              </a:rPr>
              <a:t>COPY app/, src/, params.yaml, models/production/model.pkl</a:t>
            </a:r>
            <a:endParaRPr lang="en-US" sz="1350" dirty="0"/>
          </a:p>
          <a:p>
            <a:pPr marL="342900" indent="-342900">
              <a:spcAft>
                <a:spcPts val="1200"/>
              </a:spcAft>
              <a:buSzPct val="100000"/>
              <a:buChar char="●"/>
            </a:pPr>
            <a:r>
              <a:rPr lang="en-US" sz="1350" dirty="0">
                <a:solidFill>
                  <a:srgbClr val="16213E"/>
                </a:solidFill>
                <a:latin typeface="Calibri" pitchFamily="34" charset="0"/>
                <a:ea typeface="Calibri" pitchFamily="34" charset="-122"/>
                <a:cs typeface="Calibri" pitchFamily="34" charset="-120"/>
              </a:rPr>
              <a:t>HEALTHCHECK hits /health every 30s</a:t>
            </a:r>
            <a:endParaRPr lang="en-US" sz="1350" dirty="0"/>
          </a:p>
          <a:p>
            <a:pPr marL="342900" indent="-342900">
              <a:spcAft>
                <a:spcPts val="1200"/>
              </a:spcAft>
              <a:buSzPct val="100000"/>
              <a:buChar char="●"/>
            </a:pPr>
            <a:r>
              <a:rPr lang="en-US" sz="1350" dirty="0">
                <a:solidFill>
                  <a:srgbClr val="16213E"/>
                </a:solidFill>
                <a:latin typeface="Calibri" pitchFamily="34" charset="0"/>
                <a:ea typeface="Calibri" pitchFamily="34" charset="-122"/>
                <a:cs typeface="Calibri" pitchFamily="34" charset="-120"/>
              </a:rPr>
              <a:t>CMD respects $PORT (works on Render, Railway, Cloud Run alike)</a:t>
            </a:r>
            <a:endParaRPr lang="en-US" sz="1350" dirty="0"/>
          </a:p>
        </p:txBody>
      </p:sp>
      <p:sp>
        <p:nvSpPr>
          <p:cNvPr id="7" name="Shape 5"/>
          <p:cNvSpPr/>
          <p:nvPr/>
        </p:nvSpPr>
        <p:spPr>
          <a:xfrm>
            <a:off x="868680" y="4617720"/>
            <a:ext cx="4892040" cy="502920"/>
          </a:xfrm>
          <a:prstGeom prst="roundRect">
            <a:avLst>
              <a:gd name="adj" fmla="val 9091"/>
            </a:avLst>
          </a:prstGeom>
          <a:solidFill>
            <a:srgbClr val="F4F8FA"/>
          </a:solidFill>
          <a:ln w="12700">
            <a:solidFill>
              <a:srgbClr val="E2E8F0"/>
            </a:solidFill>
            <a:prstDash val="solid"/>
          </a:ln>
        </p:spPr>
      </p:sp>
      <p:sp>
        <p:nvSpPr>
          <p:cNvPr id="8" name="Text 6"/>
          <p:cNvSpPr/>
          <p:nvPr/>
        </p:nvSpPr>
        <p:spPr>
          <a:xfrm>
            <a:off x="1051560" y="4617720"/>
            <a:ext cx="4572000" cy="502920"/>
          </a:xfrm>
          <a:prstGeom prst="rect">
            <a:avLst/>
          </a:prstGeom>
          <a:noFill/>
          <a:ln/>
        </p:spPr>
        <p:txBody>
          <a:bodyPr wrap="square" lIns="0" tIns="0" rIns="0" bIns="0" rtlCol="0" anchor="ctr"/>
          <a:lstStyle/>
          <a:p>
            <a:pPr indent="0" marL="0">
              <a:buNone/>
            </a:pPr>
            <a:r>
              <a:rPr lang="en-US" sz="1300" dirty="0">
                <a:solidFill>
                  <a:srgbClr val="1C7293"/>
                </a:solidFill>
                <a:latin typeface="Courier New" pitchFamily="34" charset="0"/>
                <a:ea typeface="Courier New" pitchFamily="34" charset="-122"/>
                <a:cs typeface="Courier New" pitchFamily="34" charset="-120"/>
              </a:rPr>
              <a:t>docker compose up --build</a:t>
            </a:r>
            <a:endParaRPr lang="en-US" sz="1300" dirty="0"/>
          </a:p>
        </p:txBody>
      </p:sp>
      <p:sp>
        <p:nvSpPr>
          <p:cNvPr id="9" name="Text 7"/>
          <p:cNvSpPr/>
          <p:nvPr/>
        </p:nvSpPr>
        <p:spPr>
          <a:xfrm>
            <a:off x="868680" y="5212080"/>
            <a:ext cx="4846320" cy="82296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local dev matches prod — same image either way</a:t>
            </a:r>
            <a:endParaRPr lang="en-US" sz="1200" dirty="0"/>
          </a:p>
        </p:txBody>
      </p:sp>
      <p:sp>
        <p:nvSpPr>
          <p:cNvPr id="10" name="Shape 8"/>
          <p:cNvSpPr/>
          <p:nvPr/>
        </p:nvSpPr>
        <p:spPr>
          <a:xfrm>
            <a:off x="6309360" y="1463040"/>
            <a:ext cx="5303520" cy="4754880"/>
          </a:xfrm>
          <a:prstGeom prst="roundRect">
            <a:avLst>
              <a:gd name="adj" fmla="val 1538"/>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11" name="Text 9"/>
          <p:cNvSpPr/>
          <p:nvPr/>
        </p:nvSpPr>
        <p:spPr>
          <a:xfrm>
            <a:off x="6629400" y="1691640"/>
            <a:ext cx="4572000" cy="274320"/>
          </a:xfrm>
          <a:prstGeom prst="rect">
            <a:avLst/>
          </a:prstGeom>
          <a:noFill/>
          <a:ln/>
        </p:spPr>
        <p:txBody>
          <a:bodyPr wrap="square" lIns="0" tIns="0" rIns="0" bIns="0" rtlCol="0" anchor="ctr"/>
          <a:lstStyle/>
          <a:p>
            <a:pPr indent="0" marL="0">
              <a:buNone/>
            </a:pPr>
            <a:r>
              <a:rPr lang="en-US" sz="1200" b="1" spc="100" kern="0" dirty="0">
                <a:solidFill>
                  <a:srgbClr val="3FA7D6"/>
                </a:solidFill>
                <a:latin typeface="Calibri" pitchFamily="34" charset="0"/>
                <a:ea typeface="Calibri" pitchFamily="34" charset="-122"/>
                <a:cs typeface="Calibri" pitchFamily="34" charset="-120"/>
              </a:rPr>
              <a:t>Why Render (free tier)</a:t>
            </a:r>
            <a:endParaRPr lang="en-US" sz="1200" dirty="0"/>
          </a:p>
        </p:txBody>
      </p:sp>
      <p:sp>
        <p:nvSpPr>
          <p:cNvPr id="12" name="Text 10"/>
          <p:cNvSpPr/>
          <p:nvPr/>
        </p:nvSpPr>
        <p:spPr>
          <a:xfrm>
            <a:off x="6629400" y="2103120"/>
            <a:ext cx="4663440" cy="173736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CADCFC"/>
                </a:solidFill>
                <a:latin typeface="Calibri" pitchFamily="34" charset="0"/>
                <a:ea typeface="Calibri" pitchFamily="34" charset="-122"/>
                <a:cs typeface="Calibri" pitchFamily="34" charset="-120"/>
              </a:rPr>
              <a:t>No credit card required for the demo tier</a:t>
            </a:r>
            <a:endParaRPr lang="en-US" sz="1300" dirty="0"/>
          </a:p>
          <a:p>
            <a:pPr marL="342900" indent="-342900">
              <a:spcAft>
                <a:spcPts val="1200"/>
              </a:spcAft>
              <a:buSzPct val="100000"/>
              <a:buChar char="→"/>
            </a:pPr>
            <a:r>
              <a:rPr lang="en-US" sz="1300" dirty="0">
                <a:solidFill>
                  <a:srgbClr val="CADCFC"/>
                </a:solidFill>
                <a:latin typeface="Calibri" pitchFamily="34" charset="0"/>
                <a:ea typeface="Calibri" pitchFamily="34" charset="-122"/>
                <a:cs typeface="Calibri" pitchFamily="34" charset="-120"/>
              </a:rPr>
              <a:t>Auto-builds straight from our Dockerfile</a:t>
            </a:r>
            <a:endParaRPr lang="en-US" sz="1300" dirty="0"/>
          </a:p>
          <a:p>
            <a:pPr marL="342900" indent="-342900">
              <a:spcAft>
                <a:spcPts val="1200"/>
              </a:spcAft>
              <a:buSzPct val="100000"/>
              <a:buChar char="→"/>
            </a:pPr>
            <a:r>
              <a:rPr lang="en-US" sz="1300" dirty="0">
                <a:solidFill>
                  <a:srgbClr val="CADCFC"/>
                </a:solidFill>
                <a:latin typeface="Calibri" pitchFamily="34" charset="0"/>
                <a:ea typeface="Calibri" pitchFamily="34" charset="-122"/>
                <a:cs typeface="Calibri" pitchFamily="34" charset="-120"/>
              </a:rPr>
              <a:t>Deploy Hook lets GitHub Actions trigger deploys</a:t>
            </a:r>
            <a:endParaRPr lang="en-US" sz="1300" dirty="0"/>
          </a:p>
          <a:p>
            <a:pPr marL="342900" indent="-342900">
              <a:spcAft>
                <a:spcPts val="1200"/>
              </a:spcAft>
              <a:buSzPct val="100000"/>
              <a:buChar char="→"/>
            </a:pPr>
            <a:r>
              <a:rPr lang="en-US" sz="1300" dirty="0">
                <a:solidFill>
                  <a:srgbClr val="CADCFC"/>
                </a:solidFill>
                <a:latin typeface="Calibri" pitchFamily="34" charset="0"/>
                <a:ea typeface="Calibri" pitchFamily="34" charset="-122"/>
                <a:cs typeface="Calibri" pitchFamily="34" charset="-120"/>
              </a:rPr>
              <a:t>Built-in HTTPS + health checks</a:t>
            </a:r>
            <a:endParaRPr lang="en-US" sz="1300" dirty="0"/>
          </a:p>
        </p:txBody>
      </p:sp>
      <p:sp>
        <p:nvSpPr>
          <p:cNvPr id="13" name="Text 11"/>
          <p:cNvSpPr/>
          <p:nvPr/>
        </p:nvSpPr>
        <p:spPr>
          <a:xfrm>
            <a:off x="6629400" y="3977640"/>
            <a:ext cx="4663440" cy="274320"/>
          </a:xfrm>
          <a:prstGeom prst="rect">
            <a:avLst/>
          </a:prstGeom>
          <a:noFill/>
          <a:ln/>
        </p:spPr>
        <p:txBody>
          <a:bodyPr wrap="square" lIns="0" tIns="0" rIns="0" bIns="0" rtlCol="0" anchor="ctr"/>
          <a:lstStyle/>
          <a:p>
            <a:pPr indent="0" marL="0">
              <a:buNone/>
            </a:pPr>
            <a:r>
              <a:rPr lang="en-US" sz="1200" b="1" dirty="0">
                <a:solidFill>
                  <a:srgbClr val="FFB199"/>
                </a:solidFill>
                <a:latin typeface="Calibri" pitchFamily="34" charset="0"/>
                <a:ea typeface="Calibri" pitchFamily="34" charset="-122"/>
                <a:cs typeface="Calibri" pitchFamily="34" charset="-120"/>
              </a:rPr>
              <a:t>Trade-off we're upfront about</a:t>
            </a:r>
            <a:endParaRPr lang="en-US" sz="1200" dirty="0"/>
          </a:p>
        </p:txBody>
      </p:sp>
      <p:sp>
        <p:nvSpPr>
          <p:cNvPr id="14" name="Text 12"/>
          <p:cNvSpPr/>
          <p:nvPr/>
        </p:nvSpPr>
        <p:spPr>
          <a:xfrm>
            <a:off x="6629400" y="4279392"/>
            <a:ext cx="4663440" cy="128016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Free tier = ephemeral disk + spins down after 15 min idle. Prediction log resets on restart; fine for a demo, and documented as a real-deployment next step (ship logs to a DB instead).</a:t>
            </a:r>
            <a:endParaRPr lang="en-US" sz="1250" dirty="0"/>
          </a:p>
        </p:txBody>
      </p:sp>
      <p:sp>
        <p:nvSpPr>
          <p:cNvPr id="15" name="Text 13"/>
          <p:cNvSpPr/>
          <p:nvPr/>
        </p:nvSpPr>
        <p:spPr>
          <a:xfrm>
            <a:off x="6629400" y="5623560"/>
            <a:ext cx="4663440" cy="274320"/>
          </a:xfrm>
          <a:prstGeom prst="rect">
            <a:avLst/>
          </a:prstGeom>
          <a:noFill/>
          <a:ln/>
        </p:spPr>
        <p:txBody>
          <a:bodyPr wrap="square" lIns="0" tIns="0" rIns="0" bIns="0" rtlCol="0" anchor="ctr"/>
          <a:lstStyle/>
          <a:p>
            <a:pPr indent="0" marL="0">
              <a:buNone/>
            </a:pPr>
            <a:r>
              <a:rPr lang="en-US" sz="1200" b="1" dirty="0">
                <a:solidFill>
                  <a:srgbClr val="3FA7D6"/>
                </a:solidFill>
                <a:latin typeface="Calibri" pitchFamily="34" charset="0"/>
                <a:ea typeface="Calibri" pitchFamily="34" charset="-122"/>
                <a:cs typeface="Calibri" pitchFamily="34" charset="-120"/>
              </a:rPr>
              <a:t>Public API URL</a:t>
            </a:r>
            <a:endParaRPr lang="en-US" sz="1200" dirty="0"/>
          </a:p>
        </p:txBody>
      </p:sp>
      <p:sp>
        <p:nvSpPr>
          <p:cNvPr id="16" name="Text 14"/>
          <p:cNvSpPr/>
          <p:nvPr/>
        </p:nvSpPr>
        <p:spPr>
          <a:xfrm>
            <a:off x="6629400" y="5925312"/>
            <a:ext cx="4663440" cy="365760"/>
          </a:xfrm>
          <a:prstGeom prst="rect">
            <a:avLst/>
          </a:prstGeom>
          <a:noFill/>
          <a:ln/>
        </p:spPr>
        <p:txBody>
          <a:bodyPr wrap="square" lIns="0" tIns="0" rIns="0" bIns="0" rtlCol="0" anchor="ctr"/>
          <a:lstStyle/>
          <a:p>
            <a:pPr indent="0" marL="0">
              <a:buNone/>
            </a:pPr>
            <a:r>
              <a:rPr lang="en-US" sz="1300" dirty="0">
                <a:solidFill>
                  <a:srgbClr val="7CD4FF"/>
                </a:solidFill>
                <a:latin typeface="Courier New" pitchFamily="34" charset="0"/>
                <a:ea typeface="Courier New" pitchFamily="34" charset="-122"/>
                <a:cs typeface="Courier New" pitchFamily="34" charset="-120"/>
              </a:rPr>
              <a:t>https://&lt;your-service&gt;.onrender.com</a:t>
            </a:r>
            <a:endParaRPr lang="en-US" sz="1300" dirty="0"/>
          </a:p>
        </p:txBody>
      </p:sp>
      <p:sp>
        <p:nvSpPr>
          <p:cNvPr id="17" name="Text 15"/>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18" name="Text 16"/>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DELIVERABLE 2</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CI/CD with GitHub Actions</a:t>
            </a:r>
            <a:endParaRPr lang="en-US" sz="3000" dirty="0"/>
          </a:p>
        </p:txBody>
      </p:sp>
      <p:sp>
        <p:nvSpPr>
          <p:cNvPr id="4" name="Shape 2"/>
          <p:cNvSpPr/>
          <p:nvPr/>
        </p:nvSpPr>
        <p:spPr>
          <a:xfrm>
            <a:off x="548640" y="1920240"/>
            <a:ext cx="1691640" cy="1371600"/>
          </a:xfrm>
          <a:prstGeom prst="roundRect">
            <a:avLst>
              <a:gd name="adj" fmla="val 4667"/>
            </a:avLst>
          </a:prstGeom>
          <a:solidFill>
            <a:srgbClr val="3A4A78"/>
          </a:solidFill>
          <a:ln/>
        </p:spPr>
      </p:sp>
      <p:sp>
        <p:nvSpPr>
          <p:cNvPr id="5" name="Text 3"/>
          <p:cNvSpPr/>
          <p:nvPr/>
        </p:nvSpPr>
        <p:spPr>
          <a:xfrm>
            <a:off x="658368" y="2011680"/>
            <a:ext cx="548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658368" y="2423160"/>
            <a:ext cx="147218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Push / PR</a:t>
            </a:r>
            <a:endParaRPr lang="en-US" sz="1350" dirty="0"/>
          </a:p>
        </p:txBody>
      </p:sp>
      <p:sp>
        <p:nvSpPr>
          <p:cNvPr id="7" name="Text 5"/>
          <p:cNvSpPr/>
          <p:nvPr/>
        </p:nvSpPr>
        <p:spPr>
          <a:xfrm>
            <a:off x="658368" y="2788920"/>
            <a:ext cx="1472184" cy="457200"/>
          </a:xfrm>
          <a:prstGeom prst="rect">
            <a:avLst/>
          </a:prstGeom>
          <a:noFill/>
          <a:ln/>
        </p:spPr>
        <p:txBody>
          <a:bodyPr wrap="square" lIns="0" tIns="0" rIns="0" bIns="0" rtlCol="0" anchor="t"/>
          <a:lstStyle/>
          <a:p>
            <a:pPr indent="0" marL="0">
              <a:buNone/>
            </a:pPr>
            <a:r>
              <a:rPr lang="en-US" sz="1000" dirty="0">
                <a:solidFill>
                  <a:srgbClr val="EAF2FF"/>
                </a:solidFill>
                <a:latin typeface="Calibri" pitchFamily="34" charset="0"/>
                <a:ea typeface="Calibri" pitchFamily="34" charset="-122"/>
                <a:cs typeface="Calibri" pitchFamily="34" charset="-120"/>
              </a:rPr>
              <a:t>to main or phase2</a:t>
            </a:r>
            <a:endParaRPr lang="en-US" sz="1000" dirty="0"/>
          </a:p>
        </p:txBody>
      </p:sp>
      <p:sp>
        <p:nvSpPr>
          <p:cNvPr id="8" name="Shape 6"/>
          <p:cNvSpPr/>
          <p:nvPr/>
        </p:nvSpPr>
        <p:spPr>
          <a:xfrm>
            <a:off x="2249424" y="2532888"/>
            <a:ext cx="146304" cy="146304"/>
          </a:xfrm>
          <a:prstGeom prst="rightArrow">
            <a:avLst/>
          </a:prstGeom>
          <a:solidFill>
            <a:srgbClr val="5B6B85"/>
          </a:solidFill>
          <a:ln/>
        </p:spPr>
      </p:sp>
      <p:sp>
        <p:nvSpPr>
          <p:cNvPr id="9" name="Shape 7"/>
          <p:cNvSpPr/>
          <p:nvPr/>
        </p:nvSpPr>
        <p:spPr>
          <a:xfrm>
            <a:off x="2404872" y="1920240"/>
            <a:ext cx="1691640" cy="1371600"/>
          </a:xfrm>
          <a:prstGeom prst="roundRect">
            <a:avLst>
              <a:gd name="adj" fmla="val 4667"/>
            </a:avLst>
          </a:prstGeom>
          <a:solidFill>
            <a:srgbClr val="065A82"/>
          </a:solidFill>
          <a:ln/>
        </p:spPr>
      </p:sp>
      <p:sp>
        <p:nvSpPr>
          <p:cNvPr id="10" name="Text 8"/>
          <p:cNvSpPr/>
          <p:nvPr/>
        </p:nvSpPr>
        <p:spPr>
          <a:xfrm>
            <a:off x="2514600" y="2011680"/>
            <a:ext cx="548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2514600" y="2423160"/>
            <a:ext cx="147218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Lint</a:t>
            </a:r>
            <a:endParaRPr lang="en-US" sz="1350" dirty="0"/>
          </a:p>
        </p:txBody>
      </p:sp>
      <p:sp>
        <p:nvSpPr>
          <p:cNvPr id="12" name="Text 10"/>
          <p:cNvSpPr/>
          <p:nvPr/>
        </p:nvSpPr>
        <p:spPr>
          <a:xfrm>
            <a:off x="2514600" y="2788920"/>
            <a:ext cx="1472184" cy="457200"/>
          </a:xfrm>
          <a:prstGeom prst="rect">
            <a:avLst/>
          </a:prstGeom>
          <a:noFill/>
          <a:ln/>
        </p:spPr>
        <p:txBody>
          <a:bodyPr wrap="square" lIns="0" tIns="0" rIns="0" bIns="0" rtlCol="0" anchor="t"/>
          <a:lstStyle/>
          <a:p>
            <a:pPr indent="0" marL="0">
              <a:buNone/>
            </a:pPr>
            <a:r>
              <a:rPr lang="en-US" sz="1000" dirty="0">
                <a:solidFill>
                  <a:srgbClr val="EAF2FF"/>
                </a:solidFill>
                <a:latin typeface="Calibri" pitchFamily="34" charset="0"/>
                <a:ea typeface="Calibri" pitchFamily="34" charset="-122"/>
                <a:cs typeface="Calibri" pitchFamily="34" charset="-120"/>
              </a:rPr>
              <a:t>ruff check app, scripts, tests</a:t>
            </a:r>
            <a:endParaRPr lang="en-US" sz="1000" dirty="0"/>
          </a:p>
        </p:txBody>
      </p:sp>
      <p:sp>
        <p:nvSpPr>
          <p:cNvPr id="13" name="Shape 11"/>
          <p:cNvSpPr/>
          <p:nvPr/>
        </p:nvSpPr>
        <p:spPr>
          <a:xfrm>
            <a:off x="4105656" y="2532888"/>
            <a:ext cx="146304" cy="146304"/>
          </a:xfrm>
          <a:prstGeom prst="rightArrow">
            <a:avLst/>
          </a:prstGeom>
          <a:solidFill>
            <a:srgbClr val="5B6B85"/>
          </a:solidFill>
          <a:ln/>
        </p:spPr>
      </p:sp>
      <p:sp>
        <p:nvSpPr>
          <p:cNvPr id="14" name="Shape 12"/>
          <p:cNvSpPr/>
          <p:nvPr/>
        </p:nvSpPr>
        <p:spPr>
          <a:xfrm>
            <a:off x="4261104" y="1920240"/>
            <a:ext cx="1691640" cy="1371600"/>
          </a:xfrm>
          <a:prstGeom prst="roundRect">
            <a:avLst>
              <a:gd name="adj" fmla="val 4667"/>
            </a:avLst>
          </a:prstGeom>
          <a:solidFill>
            <a:srgbClr val="1C7293"/>
          </a:solidFill>
          <a:ln/>
        </p:spPr>
      </p:sp>
      <p:sp>
        <p:nvSpPr>
          <p:cNvPr id="15" name="Text 13"/>
          <p:cNvSpPr/>
          <p:nvPr/>
        </p:nvSpPr>
        <p:spPr>
          <a:xfrm>
            <a:off x="4370832" y="2011680"/>
            <a:ext cx="548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4370832" y="2423160"/>
            <a:ext cx="147218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Test</a:t>
            </a:r>
            <a:endParaRPr lang="en-US" sz="1350" dirty="0"/>
          </a:p>
        </p:txBody>
      </p:sp>
      <p:sp>
        <p:nvSpPr>
          <p:cNvPr id="17" name="Text 15"/>
          <p:cNvSpPr/>
          <p:nvPr/>
        </p:nvSpPr>
        <p:spPr>
          <a:xfrm>
            <a:off x="4370832" y="2788920"/>
            <a:ext cx="1472184" cy="457200"/>
          </a:xfrm>
          <a:prstGeom prst="rect">
            <a:avLst/>
          </a:prstGeom>
          <a:noFill/>
          <a:ln/>
        </p:spPr>
        <p:txBody>
          <a:bodyPr wrap="square" lIns="0" tIns="0" rIns="0" bIns="0" rtlCol="0" anchor="t"/>
          <a:lstStyle/>
          <a:p>
            <a:pPr indent="0" marL="0">
              <a:buNone/>
            </a:pPr>
            <a:r>
              <a:rPr lang="en-US" sz="1000" dirty="0">
                <a:solidFill>
                  <a:srgbClr val="EAF2FF"/>
                </a:solidFill>
                <a:latin typeface="Calibri" pitchFamily="34" charset="0"/>
                <a:ea typeface="Calibri" pitchFamily="34" charset="-122"/>
                <a:cs typeface="Calibri" pitchFamily="34" charset="-120"/>
              </a:rPr>
              <a:t>pytest — 13 tests incl. API + preprocessing</a:t>
            </a:r>
            <a:endParaRPr lang="en-US" sz="1000" dirty="0"/>
          </a:p>
        </p:txBody>
      </p:sp>
      <p:sp>
        <p:nvSpPr>
          <p:cNvPr id="18" name="Shape 16"/>
          <p:cNvSpPr/>
          <p:nvPr/>
        </p:nvSpPr>
        <p:spPr>
          <a:xfrm>
            <a:off x="5961888" y="2532888"/>
            <a:ext cx="146304" cy="146304"/>
          </a:xfrm>
          <a:prstGeom prst="rightArrow">
            <a:avLst/>
          </a:prstGeom>
          <a:solidFill>
            <a:srgbClr val="5B6B85"/>
          </a:solidFill>
          <a:ln/>
        </p:spPr>
      </p:sp>
      <p:sp>
        <p:nvSpPr>
          <p:cNvPr id="19" name="Shape 17"/>
          <p:cNvSpPr/>
          <p:nvPr/>
        </p:nvSpPr>
        <p:spPr>
          <a:xfrm>
            <a:off x="6117336" y="1920240"/>
            <a:ext cx="1691640" cy="1371600"/>
          </a:xfrm>
          <a:prstGeom prst="roundRect">
            <a:avLst>
              <a:gd name="adj" fmla="val 4667"/>
            </a:avLst>
          </a:prstGeom>
          <a:solidFill>
            <a:srgbClr val="2E8B57"/>
          </a:solidFill>
          <a:ln/>
        </p:spPr>
      </p:sp>
      <p:sp>
        <p:nvSpPr>
          <p:cNvPr id="20" name="Text 18"/>
          <p:cNvSpPr/>
          <p:nvPr/>
        </p:nvSpPr>
        <p:spPr>
          <a:xfrm>
            <a:off x="6227064" y="2011680"/>
            <a:ext cx="548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6227064" y="2423160"/>
            <a:ext cx="147218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Train fixture</a:t>
            </a:r>
            <a:endParaRPr lang="en-US" sz="1350" dirty="0"/>
          </a:p>
        </p:txBody>
      </p:sp>
      <p:sp>
        <p:nvSpPr>
          <p:cNvPr id="22" name="Text 20"/>
          <p:cNvSpPr/>
          <p:nvPr/>
        </p:nvSpPr>
        <p:spPr>
          <a:xfrm>
            <a:off x="6227064" y="2788920"/>
            <a:ext cx="1472184" cy="457200"/>
          </a:xfrm>
          <a:prstGeom prst="rect">
            <a:avLst/>
          </a:prstGeom>
          <a:noFill/>
          <a:ln/>
        </p:spPr>
        <p:txBody>
          <a:bodyPr wrap="square" lIns="0" tIns="0" rIns="0" bIns="0" rtlCol="0" anchor="t"/>
          <a:lstStyle/>
          <a:p>
            <a:pPr indent="0" marL="0">
              <a:buNone/>
            </a:pPr>
            <a:r>
              <a:rPr lang="en-US" sz="1000" dirty="0">
                <a:solidFill>
                  <a:srgbClr val="EAF2FF"/>
                </a:solidFill>
                <a:latin typeface="Calibri" pitchFamily="34" charset="0"/>
                <a:ea typeface="Calibri" pitchFamily="34" charset="-122"/>
                <a:cs typeface="Calibri" pitchFamily="34" charset="-120"/>
              </a:rPr>
              <a:t>tiny model so API tests hit a real pipeline</a:t>
            </a:r>
            <a:endParaRPr lang="en-US" sz="1000" dirty="0"/>
          </a:p>
        </p:txBody>
      </p:sp>
      <p:sp>
        <p:nvSpPr>
          <p:cNvPr id="23" name="Shape 21"/>
          <p:cNvSpPr/>
          <p:nvPr/>
        </p:nvSpPr>
        <p:spPr>
          <a:xfrm>
            <a:off x="7818120" y="2532888"/>
            <a:ext cx="146304" cy="146304"/>
          </a:xfrm>
          <a:prstGeom prst="rightArrow">
            <a:avLst/>
          </a:prstGeom>
          <a:solidFill>
            <a:srgbClr val="5B6B85"/>
          </a:solidFill>
          <a:ln/>
        </p:spPr>
      </p:sp>
      <p:sp>
        <p:nvSpPr>
          <p:cNvPr id="24" name="Shape 22"/>
          <p:cNvSpPr/>
          <p:nvPr/>
        </p:nvSpPr>
        <p:spPr>
          <a:xfrm>
            <a:off x="7973568" y="1920240"/>
            <a:ext cx="1691640" cy="1371600"/>
          </a:xfrm>
          <a:prstGeom prst="roundRect">
            <a:avLst>
              <a:gd name="adj" fmla="val 4667"/>
            </a:avLst>
          </a:prstGeom>
          <a:solidFill>
            <a:srgbClr val="C1440E"/>
          </a:solidFill>
          <a:ln/>
        </p:spPr>
      </p:sp>
      <p:sp>
        <p:nvSpPr>
          <p:cNvPr id="25" name="Text 23"/>
          <p:cNvSpPr/>
          <p:nvPr/>
        </p:nvSpPr>
        <p:spPr>
          <a:xfrm>
            <a:off x="8083296" y="2011680"/>
            <a:ext cx="548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p:nvPr/>
        </p:nvSpPr>
        <p:spPr>
          <a:xfrm>
            <a:off x="8083296" y="2423160"/>
            <a:ext cx="147218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Deploy</a:t>
            </a:r>
            <a:endParaRPr lang="en-US" sz="1350" dirty="0"/>
          </a:p>
        </p:txBody>
      </p:sp>
      <p:sp>
        <p:nvSpPr>
          <p:cNvPr id="27" name="Text 25"/>
          <p:cNvSpPr/>
          <p:nvPr/>
        </p:nvSpPr>
        <p:spPr>
          <a:xfrm>
            <a:off x="8083296" y="2788920"/>
            <a:ext cx="1472184" cy="457200"/>
          </a:xfrm>
          <a:prstGeom prst="rect">
            <a:avLst/>
          </a:prstGeom>
          <a:noFill/>
          <a:ln/>
        </p:spPr>
        <p:txBody>
          <a:bodyPr wrap="square" lIns="0" tIns="0" rIns="0" bIns="0" rtlCol="0" anchor="t"/>
          <a:lstStyle/>
          <a:p>
            <a:pPr indent="0" marL="0">
              <a:buNone/>
            </a:pPr>
            <a:r>
              <a:rPr lang="en-US" sz="1000" dirty="0">
                <a:solidFill>
                  <a:srgbClr val="EAF2FF"/>
                </a:solidFill>
                <a:latin typeface="Calibri" pitchFamily="34" charset="0"/>
                <a:ea typeface="Calibri" pitchFamily="34" charset="-122"/>
                <a:cs typeface="Calibri" pitchFamily="34" charset="-120"/>
              </a:rPr>
              <a:t>on main: trigger Render deploy hook</a:t>
            </a:r>
            <a:endParaRPr lang="en-US" sz="1000" dirty="0"/>
          </a:p>
        </p:txBody>
      </p:sp>
      <p:sp>
        <p:nvSpPr>
          <p:cNvPr id="28" name="Shape 26"/>
          <p:cNvSpPr/>
          <p:nvPr/>
        </p:nvSpPr>
        <p:spPr>
          <a:xfrm>
            <a:off x="9674352" y="2532888"/>
            <a:ext cx="146304" cy="146304"/>
          </a:xfrm>
          <a:prstGeom prst="rightArrow">
            <a:avLst/>
          </a:prstGeom>
          <a:solidFill>
            <a:srgbClr val="5B6B85"/>
          </a:solidFill>
          <a:ln/>
        </p:spPr>
      </p:sp>
      <p:sp>
        <p:nvSpPr>
          <p:cNvPr id="29" name="Shape 27"/>
          <p:cNvSpPr/>
          <p:nvPr/>
        </p:nvSpPr>
        <p:spPr>
          <a:xfrm>
            <a:off x="9829800" y="1920240"/>
            <a:ext cx="1691640" cy="1371600"/>
          </a:xfrm>
          <a:prstGeom prst="roundRect">
            <a:avLst>
              <a:gd name="adj" fmla="val 4667"/>
            </a:avLst>
          </a:prstGeom>
          <a:solidFill>
            <a:srgbClr val="21295C"/>
          </a:solidFill>
          <a:ln/>
        </p:spPr>
      </p:sp>
      <p:sp>
        <p:nvSpPr>
          <p:cNvPr id="30" name="Text 28"/>
          <p:cNvSpPr/>
          <p:nvPr/>
        </p:nvSpPr>
        <p:spPr>
          <a:xfrm>
            <a:off x="9939528" y="2011680"/>
            <a:ext cx="548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1" name="Text 29"/>
          <p:cNvSpPr/>
          <p:nvPr/>
        </p:nvSpPr>
        <p:spPr>
          <a:xfrm>
            <a:off x="9939528" y="2423160"/>
            <a:ext cx="147218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Smoke test</a:t>
            </a:r>
            <a:endParaRPr lang="en-US" sz="1350" dirty="0"/>
          </a:p>
        </p:txBody>
      </p:sp>
      <p:sp>
        <p:nvSpPr>
          <p:cNvPr id="32" name="Text 30"/>
          <p:cNvSpPr/>
          <p:nvPr/>
        </p:nvSpPr>
        <p:spPr>
          <a:xfrm>
            <a:off x="9939528" y="2788920"/>
            <a:ext cx="1472184" cy="457200"/>
          </a:xfrm>
          <a:prstGeom prst="rect">
            <a:avLst/>
          </a:prstGeom>
          <a:noFill/>
          <a:ln/>
        </p:spPr>
        <p:txBody>
          <a:bodyPr wrap="square" lIns="0" tIns="0" rIns="0" bIns="0" rtlCol="0" anchor="t"/>
          <a:lstStyle/>
          <a:p>
            <a:pPr indent="0" marL="0">
              <a:buNone/>
            </a:pPr>
            <a:r>
              <a:rPr lang="en-US" sz="1000" dirty="0">
                <a:solidFill>
                  <a:srgbClr val="EAF2FF"/>
                </a:solidFill>
                <a:latin typeface="Calibri" pitchFamily="34" charset="0"/>
                <a:ea typeface="Calibri" pitchFamily="34" charset="-122"/>
                <a:cs typeface="Calibri" pitchFamily="34" charset="-120"/>
              </a:rPr>
              <a:t>poll /health until the new revision is live</a:t>
            </a:r>
            <a:endParaRPr lang="en-US" sz="1000" dirty="0"/>
          </a:p>
        </p:txBody>
      </p:sp>
      <p:sp>
        <p:nvSpPr>
          <p:cNvPr id="33" name="Shape 31"/>
          <p:cNvSpPr/>
          <p:nvPr/>
        </p:nvSpPr>
        <p:spPr>
          <a:xfrm>
            <a:off x="548640" y="3703320"/>
            <a:ext cx="5349240" cy="2514600"/>
          </a:xfrm>
          <a:prstGeom prst="roundRect">
            <a:avLst>
              <a:gd name="adj" fmla="val 2909"/>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34" name="Text 32"/>
          <p:cNvSpPr/>
          <p:nvPr/>
        </p:nvSpPr>
        <p:spPr>
          <a:xfrm>
            <a:off x="868680" y="3931920"/>
            <a:ext cx="475488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Why train a fixture model in CI?</a:t>
            </a:r>
            <a:endParaRPr lang="en-US" sz="1400" dirty="0"/>
          </a:p>
        </p:txBody>
      </p:sp>
      <p:sp>
        <p:nvSpPr>
          <p:cNvPr id="35" name="Text 33"/>
          <p:cNvSpPr/>
          <p:nvPr/>
        </p:nvSpPr>
        <p:spPr>
          <a:xfrm>
            <a:off x="868680" y="4343400"/>
            <a:ext cx="4754880" cy="1737360"/>
          </a:xfrm>
          <a:prstGeom prst="rect">
            <a:avLst/>
          </a:prstGeom>
          <a:noFill/>
          <a:ln/>
        </p:spPr>
        <p:txBody>
          <a:bodyPr wrap="square" lIns="0" tIns="0" rIns="0" bIns="0" rtlCol="0" anchor="t"/>
          <a:lstStyle/>
          <a:p>
            <a:pPr indent="0" marL="0">
              <a:buNone/>
            </a:pPr>
            <a:r>
              <a:rPr lang="en-US" sz="1300" dirty="0">
                <a:solidFill>
                  <a:srgbClr val="16213E"/>
                </a:solidFill>
                <a:latin typeface="Calibri" pitchFamily="34" charset="0"/>
                <a:ea typeface="Calibri" pitchFamily="34" charset="-122"/>
                <a:cs typeface="Calibri" pitchFamily="34" charset="-120"/>
              </a:rPr>
              <a:t>The full 238MB Sentiment140 CSV is git-ignored (per the Phase 1 README). CI trains a throwaway model on a 400-row committed fixture so /predict tests exercise a real, loaded model — not a mock.</a:t>
            </a:r>
            <a:endParaRPr lang="en-US" sz="1300" dirty="0"/>
          </a:p>
        </p:txBody>
      </p:sp>
      <p:sp>
        <p:nvSpPr>
          <p:cNvPr id="36" name="Shape 34"/>
          <p:cNvSpPr/>
          <p:nvPr/>
        </p:nvSpPr>
        <p:spPr>
          <a:xfrm>
            <a:off x="6172200" y="3703320"/>
            <a:ext cx="5440680" cy="2514600"/>
          </a:xfrm>
          <a:prstGeom prst="roundRect">
            <a:avLst>
              <a:gd name="adj" fmla="val 2909"/>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37" name="Text 35"/>
          <p:cNvSpPr/>
          <p:nvPr/>
        </p:nvSpPr>
        <p:spPr>
          <a:xfrm>
            <a:off x="6492240" y="3931920"/>
            <a:ext cx="4754880" cy="274320"/>
          </a:xfrm>
          <a:prstGeom prst="rect">
            <a:avLst/>
          </a:prstGeom>
          <a:noFill/>
          <a:ln/>
        </p:spPr>
        <p:txBody>
          <a:bodyPr wrap="square" lIns="0" tIns="0" rIns="0" bIns="0" rtlCol="0" anchor="ctr"/>
          <a:lstStyle/>
          <a:p>
            <a:pPr indent="0" marL="0">
              <a:buNone/>
            </a:pPr>
            <a:r>
              <a:rPr lang="en-US" sz="1200" b="1" spc="100" kern="0" dirty="0">
                <a:solidFill>
                  <a:srgbClr val="3FA7D6"/>
                </a:solidFill>
                <a:latin typeface="Calibri" pitchFamily="34" charset="0"/>
                <a:ea typeface="Calibri" pitchFamily="34" charset="-122"/>
                <a:cs typeface="Calibri" pitchFamily="34" charset="-120"/>
              </a:rPr>
              <a:t>gh action results (this run)</a:t>
            </a:r>
            <a:endParaRPr lang="en-US" sz="1200" dirty="0"/>
          </a:p>
        </p:txBody>
      </p:sp>
      <p:sp>
        <p:nvSpPr>
          <p:cNvPr id="38" name="Shape 36"/>
          <p:cNvSpPr/>
          <p:nvPr/>
        </p:nvSpPr>
        <p:spPr>
          <a:xfrm>
            <a:off x="6492240" y="4389120"/>
            <a:ext cx="146304" cy="146304"/>
          </a:xfrm>
          <a:prstGeom prst="ellipse">
            <a:avLst/>
          </a:prstGeom>
          <a:solidFill>
            <a:srgbClr val="2E8B57"/>
          </a:solidFill>
          <a:ln/>
        </p:spPr>
      </p:sp>
      <p:sp>
        <p:nvSpPr>
          <p:cNvPr id="39" name="Text 37"/>
          <p:cNvSpPr/>
          <p:nvPr/>
        </p:nvSpPr>
        <p:spPr>
          <a:xfrm>
            <a:off x="6748272" y="4315968"/>
            <a:ext cx="1737360" cy="29260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ruff check</a:t>
            </a:r>
            <a:endParaRPr lang="en-US" sz="1250" dirty="0"/>
          </a:p>
        </p:txBody>
      </p:sp>
      <p:sp>
        <p:nvSpPr>
          <p:cNvPr id="40" name="Text 38"/>
          <p:cNvSpPr/>
          <p:nvPr/>
        </p:nvSpPr>
        <p:spPr>
          <a:xfrm>
            <a:off x="8503920" y="4315968"/>
            <a:ext cx="292608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All checks passed</a:t>
            </a:r>
            <a:endParaRPr lang="en-US" sz="1150" dirty="0"/>
          </a:p>
        </p:txBody>
      </p:sp>
      <p:sp>
        <p:nvSpPr>
          <p:cNvPr id="41" name="Shape 39"/>
          <p:cNvSpPr/>
          <p:nvPr/>
        </p:nvSpPr>
        <p:spPr>
          <a:xfrm>
            <a:off x="6492240" y="4846320"/>
            <a:ext cx="146304" cy="146304"/>
          </a:xfrm>
          <a:prstGeom prst="ellipse">
            <a:avLst/>
          </a:prstGeom>
          <a:solidFill>
            <a:srgbClr val="2E8B57"/>
          </a:solidFill>
          <a:ln/>
        </p:spPr>
      </p:sp>
      <p:sp>
        <p:nvSpPr>
          <p:cNvPr id="42" name="Text 40"/>
          <p:cNvSpPr/>
          <p:nvPr/>
        </p:nvSpPr>
        <p:spPr>
          <a:xfrm>
            <a:off x="6748272" y="4773168"/>
            <a:ext cx="1737360" cy="29260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pytest</a:t>
            </a:r>
            <a:endParaRPr lang="en-US" sz="1250" dirty="0"/>
          </a:p>
        </p:txBody>
      </p:sp>
      <p:sp>
        <p:nvSpPr>
          <p:cNvPr id="43" name="Text 41"/>
          <p:cNvSpPr/>
          <p:nvPr/>
        </p:nvSpPr>
        <p:spPr>
          <a:xfrm>
            <a:off x="8503920" y="4773168"/>
            <a:ext cx="292608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13 passed</a:t>
            </a:r>
            <a:endParaRPr lang="en-US" sz="1150" dirty="0"/>
          </a:p>
        </p:txBody>
      </p:sp>
      <p:sp>
        <p:nvSpPr>
          <p:cNvPr id="44" name="Shape 42"/>
          <p:cNvSpPr/>
          <p:nvPr/>
        </p:nvSpPr>
        <p:spPr>
          <a:xfrm>
            <a:off x="6492240" y="5303520"/>
            <a:ext cx="146304" cy="146304"/>
          </a:xfrm>
          <a:prstGeom prst="ellipse">
            <a:avLst/>
          </a:prstGeom>
          <a:solidFill>
            <a:srgbClr val="2E8B57"/>
          </a:solidFill>
          <a:ln/>
        </p:spPr>
      </p:sp>
      <p:sp>
        <p:nvSpPr>
          <p:cNvPr id="45" name="Text 43"/>
          <p:cNvSpPr/>
          <p:nvPr/>
        </p:nvSpPr>
        <p:spPr>
          <a:xfrm>
            <a:off x="6748272" y="5230368"/>
            <a:ext cx="1737360" cy="29260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docker build</a:t>
            </a:r>
            <a:endParaRPr lang="en-US" sz="1250" dirty="0"/>
          </a:p>
        </p:txBody>
      </p:sp>
      <p:sp>
        <p:nvSpPr>
          <p:cNvPr id="46" name="Text 44"/>
          <p:cNvSpPr/>
          <p:nvPr/>
        </p:nvSpPr>
        <p:spPr>
          <a:xfrm>
            <a:off x="8503920" y="5230368"/>
            <a:ext cx="2926080" cy="2926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self-contained, no DVC needed</a:t>
            </a:r>
            <a:endParaRPr lang="en-US" sz="1150" dirty="0"/>
          </a:p>
        </p:txBody>
      </p:sp>
      <p:sp>
        <p:nvSpPr>
          <p:cNvPr id="47" name="Text 45"/>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48" name="Text 46"/>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DELIVERABLE 3</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Drift Monitoring with EvidentlyAI</a:t>
            </a:r>
            <a:endParaRPr lang="en-US" sz="3000" dirty="0"/>
          </a:p>
        </p:txBody>
      </p:sp>
      <p:sp>
        <p:nvSpPr>
          <p:cNvPr id="4" name="Shape 2"/>
          <p:cNvSpPr/>
          <p:nvPr/>
        </p:nvSpPr>
        <p:spPr>
          <a:xfrm>
            <a:off x="548640" y="1463040"/>
            <a:ext cx="5029200" cy="4754880"/>
          </a:xfrm>
          <a:prstGeom prst="roundRect">
            <a:avLst>
              <a:gd name="adj" fmla="val 1538"/>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Text 3"/>
          <p:cNvSpPr/>
          <p:nvPr/>
        </p:nvSpPr>
        <p:spPr>
          <a:xfrm>
            <a:off x="868680" y="1691640"/>
            <a:ext cx="457200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How it works</a:t>
            </a:r>
            <a:endParaRPr lang="en-US" sz="1400" dirty="0"/>
          </a:p>
        </p:txBody>
      </p:sp>
      <p:sp>
        <p:nvSpPr>
          <p:cNvPr id="6" name="Text 4"/>
          <p:cNvSpPr/>
          <p:nvPr/>
        </p:nvSpPr>
        <p:spPr>
          <a:xfrm>
            <a:off x="868680" y="2057400"/>
            <a:ext cx="4709160" cy="2743200"/>
          </a:xfrm>
          <a:prstGeom prst="rect">
            <a:avLst/>
          </a:prstGeom>
          <a:noFill/>
          <a:ln/>
        </p:spPr>
        <p:txBody>
          <a:bodyPr wrap="square" lIns="0" tIns="0" rIns="0" bIns="0" rtlCol="0" anchor="t"/>
          <a:lstStyle/>
          <a:p>
            <a:pPr marL="342900" indent="-3429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Reference sample: 2,000 rows from training data (committed to git)</a:t>
            </a:r>
            <a:endParaRPr lang="en-US" sz="1300" dirty="0"/>
          </a:p>
          <a:p>
            <a:pPr marL="342900" indent="-3429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Current sample: recent live predictions, pulled from /predictions/export</a:t>
            </a:r>
            <a:endParaRPr lang="en-US" sz="1300" dirty="0"/>
          </a:p>
          <a:p>
            <a:pPr marL="342900" indent="-3429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Evidently's DataDriftPreset compares text length + P(positive) distributions</a:t>
            </a:r>
            <a:endParaRPr lang="en-US" sz="1300" dirty="0"/>
          </a:p>
          <a:p>
            <a:pPr marL="342900" indent="-3429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Plus a class-balance check: reference is 50/50 by construction</a:t>
            </a:r>
            <a:endParaRPr lang="en-US" sz="1300" dirty="0"/>
          </a:p>
        </p:txBody>
      </p:sp>
      <p:sp>
        <p:nvSpPr>
          <p:cNvPr id="7" name="Shape 5"/>
          <p:cNvSpPr/>
          <p:nvPr/>
        </p:nvSpPr>
        <p:spPr>
          <a:xfrm>
            <a:off x="868680" y="4937760"/>
            <a:ext cx="4572000" cy="1051560"/>
          </a:xfrm>
          <a:prstGeom prst="roundRect">
            <a:avLst>
              <a:gd name="adj" fmla="val 5217"/>
            </a:avLst>
          </a:prstGeom>
          <a:solidFill>
            <a:srgbClr val="F4F8FA"/>
          </a:solidFill>
          <a:ln w="12700">
            <a:solidFill>
              <a:srgbClr val="E2E8F0"/>
            </a:solidFill>
            <a:prstDash val="solid"/>
          </a:ln>
        </p:spPr>
      </p:sp>
      <p:sp>
        <p:nvSpPr>
          <p:cNvPr id="8" name="Text 6"/>
          <p:cNvSpPr/>
          <p:nvPr/>
        </p:nvSpPr>
        <p:spPr>
          <a:xfrm>
            <a:off x="1051560" y="4937760"/>
            <a:ext cx="4206240" cy="105156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Runs daily via cron, plus on-demand — .github/workflows/drift-monitor.yml</a:t>
            </a:r>
            <a:endParaRPr lang="en-US" sz="1200" dirty="0"/>
          </a:p>
        </p:txBody>
      </p:sp>
      <p:sp>
        <p:nvSpPr>
          <p:cNvPr id="9" name="Shape 7"/>
          <p:cNvSpPr/>
          <p:nvPr/>
        </p:nvSpPr>
        <p:spPr>
          <a:xfrm>
            <a:off x="5806440" y="1463040"/>
            <a:ext cx="5806440" cy="2148840"/>
          </a:xfrm>
          <a:prstGeom prst="roundRect">
            <a:avLst>
              <a:gd name="adj" fmla="val 3404"/>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10" name="Text 8"/>
          <p:cNvSpPr/>
          <p:nvPr/>
        </p:nvSpPr>
        <p:spPr>
          <a:xfrm>
            <a:off x="6126480" y="1645920"/>
            <a:ext cx="4572000" cy="274320"/>
          </a:xfrm>
          <a:prstGeom prst="rect">
            <a:avLst/>
          </a:prstGeom>
          <a:noFill/>
          <a:ln/>
        </p:spPr>
        <p:txBody>
          <a:bodyPr wrap="square" lIns="0" tIns="0" rIns="0" bIns="0" rtlCol="0" anchor="ctr"/>
          <a:lstStyle/>
          <a:p>
            <a:pPr indent="0" marL="0">
              <a:buNone/>
            </a:pPr>
            <a:r>
              <a:rPr lang="en-US" sz="1100" b="1" spc="200" kern="0" dirty="0">
                <a:solidFill>
                  <a:srgbClr val="3FA7D6"/>
                </a:solidFill>
                <a:latin typeface="Calibri" pitchFamily="34" charset="0"/>
                <a:ea typeface="Calibri" pitchFamily="34" charset="-122"/>
                <a:cs typeface="Calibri" pitchFamily="34" charset="-120"/>
              </a:rPr>
              <a:t>VERIFIED LOCALLY</a:t>
            </a:r>
            <a:endParaRPr lang="en-US" sz="1100" dirty="0"/>
          </a:p>
        </p:txBody>
      </p:sp>
      <p:sp>
        <p:nvSpPr>
          <p:cNvPr id="11" name="Text 9"/>
          <p:cNvSpPr/>
          <p:nvPr/>
        </p:nvSpPr>
        <p:spPr>
          <a:xfrm>
            <a:off x="6126480" y="1965960"/>
            <a:ext cx="521208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We ran the drift script against synthetic traffic to prove it discriminates correctly:</a:t>
            </a:r>
            <a:endParaRPr lang="en-US" sz="1200" dirty="0"/>
          </a:p>
        </p:txBody>
      </p:sp>
      <p:sp>
        <p:nvSpPr>
          <p:cNvPr id="12" name="Shape 10"/>
          <p:cNvSpPr/>
          <p:nvPr/>
        </p:nvSpPr>
        <p:spPr>
          <a:xfrm>
            <a:off x="6126480" y="2468880"/>
            <a:ext cx="2468880" cy="1005840"/>
          </a:xfrm>
          <a:prstGeom prst="roundRect">
            <a:avLst>
              <a:gd name="adj" fmla="val 7273"/>
            </a:avLst>
          </a:prstGeom>
          <a:solidFill>
            <a:srgbClr val="1B4332"/>
          </a:solidFill>
          <a:ln/>
        </p:spPr>
      </p:sp>
      <p:sp>
        <p:nvSpPr>
          <p:cNvPr id="13" name="Text 11"/>
          <p:cNvSpPr/>
          <p:nvPr/>
        </p:nvSpPr>
        <p:spPr>
          <a:xfrm>
            <a:off x="6263640" y="2560320"/>
            <a:ext cx="2194560" cy="274320"/>
          </a:xfrm>
          <a:prstGeom prst="rect">
            <a:avLst/>
          </a:prstGeom>
          <a:noFill/>
          <a:ln/>
        </p:spPr>
        <p:txBody>
          <a:bodyPr wrap="square" lIns="0" tIns="0" rIns="0" bIns="0" rtlCol="0" anchor="ctr"/>
          <a:lstStyle/>
          <a:p>
            <a:pPr indent="0" marL="0">
              <a:buNone/>
            </a:pPr>
            <a:r>
              <a:rPr lang="en-US" sz="1050" dirty="0">
                <a:solidFill>
                  <a:srgbClr val="B7E4C7"/>
                </a:solidFill>
                <a:latin typeface="Calibri" pitchFamily="34" charset="0"/>
                <a:ea typeface="Calibri" pitchFamily="34" charset="-122"/>
                <a:cs typeface="Calibri" pitchFamily="34" charset="-120"/>
              </a:rPr>
              <a:t>Normal traffic</a:t>
            </a:r>
            <a:endParaRPr lang="en-US" sz="1050" dirty="0"/>
          </a:p>
        </p:txBody>
      </p:sp>
      <p:sp>
        <p:nvSpPr>
          <p:cNvPr id="14" name="Text 12"/>
          <p:cNvSpPr/>
          <p:nvPr/>
        </p:nvSpPr>
        <p:spPr>
          <a:xfrm>
            <a:off x="6263640" y="2834640"/>
            <a:ext cx="2194560" cy="457200"/>
          </a:xfrm>
          <a:prstGeom prst="rect">
            <a:avLst/>
          </a:prstGeom>
          <a:noFill/>
          <a:ln/>
        </p:spPr>
        <p:txBody>
          <a:bodyPr wrap="square" lIns="0" tIns="0" rIns="0" bIns="0" rtlCol="0" anchor="ctr"/>
          <a:lstStyle/>
          <a:p>
            <a:pPr indent="0" marL="0">
              <a:buNone/>
            </a:pPr>
            <a:r>
              <a:rPr lang="en-US" sz="1200" b="1" dirty="0">
                <a:solidFill>
                  <a:srgbClr val="8CE99A"/>
                </a:solidFill>
                <a:latin typeface="Courier New" pitchFamily="34" charset="0"/>
                <a:ea typeface="Courier New" pitchFamily="34" charset="-122"/>
                <a:cs typeface="Courier New" pitchFamily="34" charset="-120"/>
              </a:rPr>
              <a:t>drift_detected: false</a:t>
            </a:r>
            <a:endParaRPr lang="en-US" sz="1200" dirty="0"/>
          </a:p>
        </p:txBody>
      </p:sp>
      <p:sp>
        <p:nvSpPr>
          <p:cNvPr id="15" name="Shape 13"/>
          <p:cNvSpPr/>
          <p:nvPr/>
        </p:nvSpPr>
        <p:spPr>
          <a:xfrm>
            <a:off x="8778240" y="2468880"/>
            <a:ext cx="2468880" cy="1005840"/>
          </a:xfrm>
          <a:prstGeom prst="roundRect">
            <a:avLst>
              <a:gd name="adj" fmla="val 7273"/>
            </a:avLst>
          </a:prstGeom>
          <a:solidFill>
            <a:srgbClr val="4A1620"/>
          </a:solidFill>
          <a:ln/>
        </p:spPr>
      </p:sp>
      <p:sp>
        <p:nvSpPr>
          <p:cNvPr id="16" name="Text 14"/>
          <p:cNvSpPr/>
          <p:nvPr/>
        </p:nvSpPr>
        <p:spPr>
          <a:xfrm>
            <a:off x="8915400" y="2560320"/>
            <a:ext cx="2194560" cy="274320"/>
          </a:xfrm>
          <a:prstGeom prst="rect">
            <a:avLst/>
          </a:prstGeom>
          <a:noFill/>
          <a:ln/>
        </p:spPr>
        <p:txBody>
          <a:bodyPr wrap="square" lIns="0" tIns="0" rIns="0" bIns="0" rtlCol="0" anchor="ctr"/>
          <a:lstStyle/>
          <a:p>
            <a:pPr indent="0" marL="0">
              <a:buNone/>
            </a:pPr>
            <a:r>
              <a:rPr lang="en-US" sz="1050" dirty="0">
                <a:solidFill>
                  <a:srgbClr val="FFC9C9"/>
                </a:solidFill>
                <a:latin typeface="Calibri" pitchFamily="34" charset="0"/>
                <a:ea typeface="Calibri" pitchFamily="34" charset="-122"/>
                <a:cs typeface="Calibri" pitchFamily="34" charset="-120"/>
              </a:rPr>
              <a:t>Shifted traffic</a:t>
            </a:r>
            <a:endParaRPr lang="en-US" sz="1050" dirty="0"/>
          </a:p>
        </p:txBody>
      </p:sp>
      <p:sp>
        <p:nvSpPr>
          <p:cNvPr id="17" name="Text 15"/>
          <p:cNvSpPr/>
          <p:nvPr/>
        </p:nvSpPr>
        <p:spPr>
          <a:xfrm>
            <a:off x="8915400" y="2834640"/>
            <a:ext cx="2194560" cy="457200"/>
          </a:xfrm>
          <a:prstGeom prst="rect">
            <a:avLst/>
          </a:prstGeom>
          <a:noFill/>
          <a:ln/>
        </p:spPr>
        <p:txBody>
          <a:bodyPr wrap="square" lIns="0" tIns="0" rIns="0" bIns="0" rtlCol="0" anchor="ctr"/>
          <a:lstStyle/>
          <a:p>
            <a:pPr indent="0" marL="0">
              <a:buNone/>
            </a:pPr>
            <a:r>
              <a:rPr lang="en-US" sz="1200" b="1" dirty="0">
                <a:solidFill>
                  <a:srgbClr val="FF8787"/>
                </a:solidFill>
                <a:latin typeface="Courier New" pitchFamily="34" charset="0"/>
                <a:ea typeface="Courier New" pitchFamily="34" charset="-122"/>
                <a:cs typeface="Courier New" pitchFamily="34" charset="-120"/>
              </a:rPr>
              <a:t>drift_detected: true</a:t>
            </a:r>
            <a:endParaRPr lang="en-US" sz="1200" dirty="0"/>
          </a:p>
        </p:txBody>
      </p:sp>
      <p:sp>
        <p:nvSpPr>
          <p:cNvPr id="18" name="Shape 16"/>
          <p:cNvSpPr/>
          <p:nvPr/>
        </p:nvSpPr>
        <p:spPr>
          <a:xfrm>
            <a:off x="5806440" y="3794760"/>
            <a:ext cx="5806440" cy="2423160"/>
          </a:xfrm>
          <a:prstGeom prst="roundRect">
            <a:avLst>
              <a:gd name="adj" fmla="val 3019"/>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19" name="Text 17"/>
          <p:cNvSpPr/>
          <p:nvPr/>
        </p:nvSpPr>
        <p:spPr>
          <a:xfrm>
            <a:off x="6126480" y="3977640"/>
            <a:ext cx="5120640" cy="27432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Sample drift summary (shifted-traffic run)</a:t>
            </a:r>
            <a:endParaRPr lang="en-US" sz="1250" dirty="0"/>
          </a:p>
        </p:txBody>
      </p:sp>
      <p:sp>
        <p:nvSpPr>
          <p:cNvPr id="20" name="Shape 18"/>
          <p:cNvSpPr/>
          <p:nvPr/>
        </p:nvSpPr>
        <p:spPr>
          <a:xfrm>
            <a:off x="6126480" y="4315968"/>
            <a:ext cx="5166360" cy="1737360"/>
          </a:xfrm>
          <a:prstGeom prst="roundRect">
            <a:avLst>
              <a:gd name="adj" fmla="val 2632"/>
            </a:avLst>
          </a:prstGeom>
          <a:solidFill>
            <a:srgbClr val="0A1F38"/>
          </a:solidFill>
          <a:ln/>
        </p:spPr>
      </p:sp>
      <p:sp>
        <p:nvSpPr>
          <p:cNvPr id="21" name="Text 19"/>
          <p:cNvSpPr/>
          <p:nvPr/>
        </p:nvSpPr>
        <p:spPr>
          <a:xfrm>
            <a:off x="6309360" y="4407408"/>
            <a:ext cx="4846320" cy="1600200"/>
          </a:xfrm>
          <a:prstGeom prst="rect">
            <a:avLst/>
          </a:prstGeom>
          <a:noFill/>
          <a:ln/>
        </p:spPr>
        <p:txBody>
          <a:bodyPr wrap="square" lIns="0" tIns="0" rIns="0" bIns="0" rtlCol="0" anchor="t"/>
          <a:lstStyle/>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  "share_of_drifted_columns": 1.0,</a:t>
            </a:r>
            <a:endParaRPr lang="en-US" sz="1100" dirty="0"/>
          </a:p>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  "reference_positive_rate": 0.51,</a:t>
            </a:r>
            <a:endParaRPr lang="en-US" sz="1100" dirty="0"/>
          </a:p>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  "current_positive_rate": 0.0,</a:t>
            </a:r>
            <a:endParaRPr lang="en-US" sz="1100" dirty="0"/>
          </a:p>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  "positive_rate_delta": 0.51,</a:t>
            </a:r>
            <a:endParaRPr lang="en-US" sz="1100" dirty="0"/>
          </a:p>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  "drift_detected": true</a:t>
            </a:r>
            <a:endParaRPr lang="en-US" sz="1100" dirty="0"/>
          </a:p>
          <a:p>
            <a:pPr indent="0" marL="0">
              <a:lnSpc>
                <a:spcPct val="112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p:txBody>
      </p:sp>
      <p:sp>
        <p:nvSpPr>
          <p:cNvPr id="22"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23" name="Text 21"/>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DELIVERABLE 3, CONTINUED</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Closing the Loop: Automated Retraining</a:t>
            </a:r>
            <a:endParaRPr lang="en-US" sz="3000" dirty="0"/>
          </a:p>
        </p:txBody>
      </p:sp>
      <p:sp>
        <p:nvSpPr>
          <p:cNvPr id="4" name="Shape 2"/>
          <p:cNvSpPr/>
          <p:nvPr/>
        </p:nvSpPr>
        <p:spPr>
          <a:xfrm>
            <a:off x="548640" y="1691640"/>
            <a:ext cx="2084832" cy="1554480"/>
          </a:xfrm>
          <a:prstGeom prst="roundRect">
            <a:avLst>
              <a:gd name="adj" fmla="val 4118"/>
            </a:avLst>
          </a:prstGeom>
          <a:solidFill>
            <a:srgbClr val="C1440E"/>
          </a:solidFill>
          <a:ln/>
        </p:spPr>
      </p:sp>
      <p:sp>
        <p:nvSpPr>
          <p:cNvPr id="5" name="Text 3"/>
          <p:cNvSpPr/>
          <p:nvPr/>
        </p:nvSpPr>
        <p:spPr>
          <a:xfrm>
            <a:off x="685800" y="1856232"/>
            <a:ext cx="1810512" cy="5029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Drift detected</a:t>
            </a:r>
            <a:endParaRPr lang="en-US" sz="1400" dirty="0"/>
          </a:p>
        </p:txBody>
      </p:sp>
      <p:sp>
        <p:nvSpPr>
          <p:cNvPr id="6" name="Text 4"/>
          <p:cNvSpPr/>
          <p:nvPr/>
        </p:nvSpPr>
        <p:spPr>
          <a:xfrm>
            <a:off x="685800" y="2377440"/>
            <a:ext cx="1810512" cy="731520"/>
          </a:xfrm>
          <a:prstGeom prst="rect">
            <a:avLst/>
          </a:prstGeom>
          <a:noFill/>
          <a:ln/>
        </p:spPr>
        <p:txBody>
          <a:bodyPr wrap="square" lIns="0" tIns="0" rIns="0" bIns="0" rtlCol="0" anchor="t"/>
          <a:lstStyle/>
          <a:p>
            <a:pPr indent="0" marL="0">
              <a:buNone/>
            </a:pPr>
            <a:r>
              <a:rPr lang="en-US" sz="1100" dirty="0">
                <a:solidFill>
                  <a:srgbClr val="F0F4FF"/>
                </a:solidFill>
                <a:latin typeface="Calibri" pitchFamily="34" charset="0"/>
                <a:ea typeface="Calibri" pitchFamily="34" charset="-122"/>
                <a:cs typeface="Calibri" pitchFamily="34" charset="-120"/>
              </a:rPr>
              <a:t>workflow output: drift_detected=true</a:t>
            </a:r>
            <a:endParaRPr lang="en-US" sz="1100" dirty="0"/>
          </a:p>
        </p:txBody>
      </p:sp>
      <p:sp>
        <p:nvSpPr>
          <p:cNvPr id="7" name="Shape 5"/>
          <p:cNvSpPr/>
          <p:nvPr/>
        </p:nvSpPr>
        <p:spPr>
          <a:xfrm>
            <a:off x="2638044" y="2395728"/>
            <a:ext cx="137160" cy="146304"/>
          </a:xfrm>
          <a:prstGeom prst="rightArrow">
            <a:avLst/>
          </a:prstGeom>
          <a:solidFill>
            <a:srgbClr val="5B6B85"/>
          </a:solidFill>
          <a:ln/>
        </p:spPr>
      </p:sp>
      <p:sp>
        <p:nvSpPr>
          <p:cNvPr id="8" name="Shape 6"/>
          <p:cNvSpPr/>
          <p:nvPr/>
        </p:nvSpPr>
        <p:spPr>
          <a:xfrm>
            <a:off x="2779776" y="1691640"/>
            <a:ext cx="2084832" cy="1554480"/>
          </a:xfrm>
          <a:prstGeom prst="roundRect">
            <a:avLst>
              <a:gd name="adj" fmla="val 4118"/>
            </a:avLst>
          </a:prstGeom>
          <a:solidFill>
            <a:srgbClr val="1C7293"/>
          </a:solidFill>
          <a:ln/>
        </p:spPr>
      </p:sp>
      <p:sp>
        <p:nvSpPr>
          <p:cNvPr id="9" name="Text 7"/>
          <p:cNvSpPr/>
          <p:nvPr/>
        </p:nvSpPr>
        <p:spPr>
          <a:xfrm>
            <a:off x="2916936" y="1856232"/>
            <a:ext cx="1810512" cy="5029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retrain.yml fires</a:t>
            </a:r>
            <a:endParaRPr lang="en-US" sz="1400" dirty="0"/>
          </a:p>
        </p:txBody>
      </p:sp>
      <p:sp>
        <p:nvSpPr>
          <p:cNvPr id="10" name="Text 8"/>
          <p:cNvSpPr/>
          <p:nvPr/>
        </p:nvSpPr>
        <p:spPr>
          <a:xfrm>
            <a:off x="2916936" y="2377440"/>
            <a:ext cx="1810512" cy="731520"/>
          </a:xfrm>
          <a:prstGeom prst="rect">
            <a:avLst/>
          </a:prstGeom>
          <a:noFill/>
          <a:ln/>
        </p:spPr>
        <p:txBody>
          <a:bodyPr wrap="square" lIns="0" tIns="0" rIns="0" bIns="0" rtlCol="0" anchor="t"/>
          <a:lstStyle/>
          <a:p>
            <a:pPr indent="0" marL="0">
              <a:buNone/>
            </a:pPr>
            <a:r>
              <a:rPr lang="en-US" sz="1100" dirty="0">
                <a:solidFill>
                  <a:srgbClr val="F0F4FF"/>
                </a:solidFill>
                <a:latin typeface="Calibri" pitchFamily="34" charset="0"/>
                <a:ea typeface="Calibri" pitchFamily="34" charset="-122"/>
                <a:cs typeface="Calibri" pitchFamily="34" charset="-120"/>
              </a:rPr>
              <a:t>gh workflow run, triggered automatically</a:t>
            </a:r>
            <a:endParaRPr lang="en-US" sz="1100" dirty="0"/>
          </a:p>
        </p:txBody>
      </p:sp>
      <p:sp>
        <p:nvSpPr>
          <p:cNvPr id="11" name="Shape 9"/>
          <p:cNvSpPr/>
          <p:nvPr/>
        </p:nvSpPr>
        <p:spPr>
          <a:xfrm>
            <a:off x="4869180" y="2395728"/>
            <a:ext cx="137160" cy="146304"/>
          </a:xfrm>
          <a:prstGeom prst="rightArrow">
            <a:avLst/>
          </a:prstGeom>
          <a:solidFill>
            <a:srgbClr val="5B6B85"/>
          </a:solidFill>
          <a:ln/>
        </p:spPr>
      </p:sp>
      <p:sp>
        <p:nvSpPr>
          <p:cNvPr id="12" name="Shape 10"/>
          <p:cNvSpPr/>
          <p:nvPr/>
        </p:nvSpPr>
        <p:spPr>
          <a:xfrm>
            <a:off x="5010912" y="1691640"/>
            <a:ext cx="2084832" cy="1554480"/>
          </a:xfrm>
          <a:prstGeom prst="roundRect">
            <a:avLst>
              <a:gd name="adj" fmla="val 4118"/>
            </a:avLst>
          </a:prstGeom>
          <a:solidFill>
            <a:srgbClr val="065A82"/>
          </a:solidFill>
          <a:ln/>
        </p:spPr>
      </p:sp>
      <p:sp>
        <p:nvSpPr>
          <p:cNvPr id="13" name="Text 11"/>
          <p:cNvSpPr/>
          <p:nvPr/>
        </p:nvSpPr>
        <p:spPr>
          <a:xfrm>
            <a:off x="5148072" y="1856232"/>
            <a:ext cx="1810512" cy="5029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Full pipeline</a:t>
            </a:r>
            <a:endParaRPr lang="en-US" sz="1400" dirty="0"/>
          </a:p>
        </p:txBody>
      </p:sp>
      <p:sp>
        <p:nvSpPr>
          <p:cNvPr id="14" name="Text 12"/>
          <p:cNvSpPr/>
          <p:nvPr/>
        </p:nvSpPr>
        <p:spPr>
          <a:xfrm>
            <a:off x="5148072" y="2377440"/>
            <a:ext cx="1810512" cy="731520"/>
          </a:xfrm>
          <a:prstGeom prst="rect">
            <a:avLst/>
          </a:prstGeom>
          <a:noFill/>
          <a:ln/>
        </p:spPr>
        <p:txBody>
          <a:bodyPr wrap="square" lIns="0" tIns="0" rIns="0" bIns="0" rtlCol="0" anchor="t"/>
          <a:lstStyle/>
          <a:p>
            <a:pPr indent="0" marL="0">
              <a:buNone/>
            </a:pPr>
            <a:r>
              <a:rPr lang="en-US" sz="1100" dirty="0">
                <a:solidFill>
                  <a:srgbClr val="F0F4FF"/>
                </a:solidFill>
                <a:latin typeface="Calibri" pitchFamily="34" charset="0"/>
                <a:ea typeface="Calibri" pitchFamily="34" charset="-122"/>
                <a:cs typeface="Calibri" pitchFamily="34" charset="-120"/>
              </a:rPr>
              <a:t>prepare → train → evaluate on complete dataset</a:t>
            </a:r>
            <a:endParaRPr lang="en-US" sz="1100" dirty="0"/>
          </a:p>
        </p:txBody>
      </p:sp>
      <p:sp>
        <p:nvSpPr>
          <p:cNvPr id="15" name="Shape 13"/>
          <p:cNvSpPr/>
          <p:nvPr/>
        </p:nvSpPr>
        <p:spPr>
          <a:xfrm>
            <a:off x="7100316" y="2395728"/>
            <a:ext cx="137160" cy="146304"/>
          </a:xfrm>
          <a:prstGeom prst="rightArrow">
            <a:avLst/>
          </a:prstGeom>
          <a:solidFill>
            <a:srgbClr val="5B6B85"/>
          </a:solidFill>
          <a:ln/>
        </p:spPr>
      </p:sp>
      <p:sp>
        <p:nvSpPr>
          <p:cNvPr id="16" name="Shape 14"/>
          <p:cNvSpPr/>
          <p:nvPr/>
        </p:nvSpPr>
        <p:spPr>
          <a:xfrm>
            <a:off x="7242048" y="1691640"/>
            <a:ext cx="2084832" cy="1554480"/>
          </a:xfrm>
          <a:prstGeom prst="roundRect">
            <a:avLst>
              <a:gd name="adj" fmla="val 4118"/>
            </a:avLst>
          </a:prstGeom>
          <a:solidFill>
            <a:srgbClr val="6B4EA0"/>
          </a:solidFill>
          <a:ln/>
        </p:spPr>
      </p:sp>
      <p:sp>
        <p:nvSpPr>
          <p:cNvPr id="17" name="Text 15"/>
          <p:cNvSpPr/>
          <p:nvPr/>
        </p:nvSpPr>
        <p:spPr>
          <a:xfrm>
            <a:off x="7379208" y="1856232"/>
            <a:ext cx="1810512" cy="5029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Guardrail check</a:t>
            </a:r>
            <a:endParaRPr lang="en-US" sz="1400" dirty="0"/>
          </a:p>
        </p:txBody>
      </p:sp>
      <p:sp>
        <p:nvSpPr>
          <p:cNvPr id="18" name="Text 16"/>
          <p:cNvSpPr/>
          <p:nvPr/>
        </p:nvSpPr>
        <p:spPr>
          <a:xfrm>
            <a:off x="7379208" y="2377440"/>
            <a:ext cx="1810512" cy="731520"/>
          </a:xfrm>
          <a:prstGeom prst="rect">
            <a:avLst/>
          </a:prstGeom>
          <a:noFill/>
          <a:ln/>
        </p:spPr>
        <p:txBody>
          <a:bodyPr wrap="square" lIns="0" tIns="0" rIns="0" bIns="0" rtlCol="0" anchor="t"/>
          <a:lstStyle/>
          <a:p>
            <a:pPr indent="0" marL="0">
              <a:buNone/>
            </a:pPr>
            <a:r>
              <a:rPr lang="en-US" sz="1100" dirty="0">
                <a:solidFill>
                  <a:srgbClr val="F0F4FF"/>
                </a:solidFill>
                <a:latin typeface="Calibri" pitchFamily="34" charset="0"/>
                <a:ea typeface="Calibri" pitchFamily="34" charset="-122"/>
                <a:cs typeface="Calibri" pitchFamily="34" charset="-120"/>
              </a:rPr>
              <a:t>promote_model.py: floor + max 2pt regression</a:t>
            </a:r>
            <a:endParaRPr lang="en-US" sz="1100" dirty="0"/>
          </a:p>
        </p:txBody>
      </p:sp>
      <p:sp>
        <p:nvSpPr>
          <p:cNvPr id="19" name="Shape 17"/>
          <p:cNvSpPr/>
          <p:nvPr/>
        </p:nvSpPr>
        <p:spPr>
          <a:xfrm>
            <a:off x="9331452" y="2395728"/>
            <a:ext cx="137160" cy="146304"/>
          </a:xfrm>
          <a:prstGeom prst="rightArrow">
            <a:avLst/>
          </a:prstGeom>
          <a:solidFill>
            <a:srgbClr val="5B6B85"/>
          </a:solidFill>
          <a:ln/>
        </p:spPr>
      </p:sp>
      <p:sp>
        <p:nvSpPr>
          <p:cNvPr id="20" name="Shape 18"/>
          <p:cNvSpPr/>
          <p:nvPr/>
        </p:nvSpPr>
        <p:spPr>
          <a:xfrm>
            <a:off x="9473184" y="1691640"/>
            <a:ext cx="2084832" cy="1554480"/>
          </a:xfrm>
          <a:prstGeom prst="roundRect">
            <a:avLst>
              <a:gd name="adj" fmla="val 4118"/>
            </a:avLst>
          </a:prstGeom>
          <a:solidFill>
            <a:srgbClr val="2E8B57"/>
          </a:solidFill>
          <a:ln/>
        </p:spPr>
      </p:sp>
      <p:sp>
        <p:nvSpPr>
          <p:cNvPr id="21" name="Text 19"/>
          <p:cNvSpPr/>
          <p:nvPr/>
        </p:nvSpPr>
        <p:spPr>
          <a:xfrm>
            <a:off x="9610344" y="1856232"/>
            <a:ext cx="1810512" cy="5029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PR opened</a:t>
            </a:r>
            <a:endParaRPr lang="en-US" sz="1400" dirty="0"/>
          </a:p>
        </p:txBody>
      </p:sp>
      <p:sp>
        <p:nvSpPr>
          <p:cNvPr id="22" name="Text 20"/>
          <p:cNvSpPr/>
          <p:nvPr/>
        </p:nvSpPr>
        <p:spPr>
          <a:xfrm>
            <a:off x="9610344" y="2377440"/>
            <a:ext cx="1810512" cy="731520"/>
          </a:xfrm>
          <a:prstGeom prst="rect">
            <a:avLst/>
          </a:prstGeom>
          <a:noFill/>
          <a:ln/>
        </p:spPr>
        <p:txBody>
          <a:bodyPr wrap="square" lIns="0" tIns="0" rIns="0" bIns="0" rtlCol="0" anchor="t"/>
          <a:lstStyle/>
          <a:p>
            <a:pPr indent="0" marL="0">
              <a:buNone/>
            </a:pPr>
            <a:r>
              <a:rPr lang="en-US" sz="1100" dirty="0">
                <a:solidFill>
                  <a:srgbClr val="F0F4FF"/>
                </a:solidFill>
                <a:latin typeface="Calibri" pitchFamily="34" charset="0"/>
                <a:ea typeface="Calibri" pitchFamily="34" charset="-122"/>
                <a:cs typeface="Calibri" pitchFamily="34" charset="-120"/>
              </a:rPr>
              <a:t>human reviews before it ever reaches main</a:t>
            </a:r>
            <a:endParaRPr lang="en-US" sz="1100" dirty="0"/>
          </a:p>
        </p:txBody>
      </p:sp>
      <p:sp>
        <p:nvSpPr>
          <p:cNvPr id="23" name="Shape 21"/>
          <p:cNvSpPr/>
          <p:nvPr/>
        </p:nvSpPr>
        <p:spPr>
          <a:xfrm>
            <a:off x="548640" y="3520440"/>
            <a:ext cx="5486400" cy="2697480"/>
          </a:xfrm>
          <a:prstGeom prst="roundRect">
            <a:avLst>
              <a:gd name="adj" fmla="val 2712"/>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24" name="Text 22"/>
          <p:cNvSpPr/>
          <p:nvPr/>
        </p:nvSpPr>
        <p:spPr>
          <a:xfrm>
            <a:off x="868680" y="3749040"/>
            <a:ext cx="493776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Promotion guardrail (scripts/promote_model.py)</a:t>
            </a:r>
            <a:endParaRPr lang="en-US" sz="1400" dirty="0"/>
          </a:p>
        </p:txBody>
      </p:sp>
      <p:sp>
        <p:nvSpPr>
          <p:cNvPr id="25" name="Text 23"/>
          <p:cNvSpPr/>
          <p:nvPr/>
        </p:nvSpPr>
        <p:spPr>
          <a:xfrm>
            <a:off x="868680" y="4160520"/>
            <a:ext cx="5029200" cy="19202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Hard floor: accuracy ≥ 0.75, F1 ≥ 0.70, AUC ≥ 0.78</a:t>
            </a:r>
            <a:endParaRPr lang="en-US" sz="1300" dirty="0"/>
          </a:p>
          <a:p>
            <a:pPr marL="342900" indent="-3429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Regression check: new model can't drop &gt; 2 pts vs current prod</a:t>
            </a:r>
            <a:endParaRPr lang="en-US" sz="1300" dirty="0"/>
          </a:p>
          <a:p>
            <a:pPr marL="342900" indent="-3429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Fails closed — refuses promotion by default, needs --force to override</a:t>
            </a:r>
            <a:endParaRPr lang="en-US" sz="1300" dirty="0"/>
          </a:p>
        </p:txBody>
      </p:sp>
      <p:sp>
        <p:nvSpPr>
          <p:cNvPr id="26" name="Shape 24"/>
          <p:cNvSpPr/>
          <p:nvPr/>
        </p:nvSpPr>
        <p:spPr>
          <a:xfrm>
            <a:off x="6309360" y="3520440"/>
            <a:ext cx="5303520" cy="2697480"/>
          </a:xfrm>
          <a:prstGeom prst="roundRect">
            <a:avLst>
              <a:gd name="adj" fmla="val 2712"/>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27" name="Text 25"/>
          <p:cNvSpPr/>
          <p:nvPr/>
        </p:nvSpPr>
        <p:spPr>
          <a:xfrm>
            <a:off x="6629400" y="3749040"/>
            <a:ext cx="4572000" cy="274320"/>
          </a:xfrm>
          <a:prstGeom prst="rect">
            <a:avLst/>
          </a:prstGeom>
          <a:noFill/>
          <a:ln/>
        </p:spPr>
        <p:txBody>
          <a:bodyPr wrap="square" lIns="0" tIns="0" rIns="0" bIns="0" rtlCol="0" anchor="ctr"/>
          <a:lstStyle/>
          <a:p>
            <a:pPr indent="0" marL="0">
              <a:buNone/>
            </a:pPr>
            <a:r>
              <a:rPr lang="en-US" sz="1200" b="1" spc="100" kern="0" dirty="0">
                <a:solidFill>
                  <a:srgbClr val="3FA7D6"/>
                </a:solidFill>
                <a:latin typeface="Calibri" pitchFamily="34" charset="0"/>
                <a:ea typeface="Calibri" pitchFamily="34" charset="-122"/>
                <a:cs typeface="Calibri" pitchFamily="34" charset="-120"/>
              </a:rPr>
              <a:t>Verified locally</a:t>
            </a:r>
            <a:endParaRPr lang="en-US" sz="1200" dirty="0"/>
          </a:p>
        </p:txBody>
      </p:sp>
      <p:sp>
        <p:nvSpPr>
          <p:cNvPr id="28" name="Text 26"/>
          <p:cNvSpPr/>
          <p:nvPr/>
        </p:nvSpPr>
        <p:spPr>
          <a:xfrm>
            <a:off x="6629400" y="4069080"/>
            <a:ext cx="4846320" cy="7772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We ran prepare → train → evaluate → generate_reference_sample → promote_model end-to-end against a real data sample:</a:t>
            </a:r>
            <a:endParaRPr lang="en-US" sz="1200" dirty="0"/>
          </a:p>
        </p:txBody>
      </p:sp>
      <p:sp>
        <p:nvSpPr>
          <p:cNvPr id="29" name="Shape 27"/>
          <p:cNvSpPr/>
          <p:nvPr/>
        </p:nvSpPr>
        <p:spPr>
          <a:xfrm>
            <a:off x="6629400" y="4892040"/>
            <a:ext cx="4846320" cy="1188720"/>
          </a:xfrm>
          <a:prstGeom prst="roundRect">
            <a:avLst>
              <a:gd name="adj" fmla="val 3846"/>
            </a:avLst>
          </a:prstGeom>
          <a:solidFill>
            <a:srgbClr val="0A1F38"/>
          </a:solidFill>
          <a:ln/>
        </p:spPr>
      </p:sp>
      <p:sp>
        <p:nvSpPr>
          <p:cNvPr id="30" name="Text 28"/>
          <p:cNvSpPr/>
          <p:nvPr/>
        </p:nvSpPr>
        <p:spPr>
          <a:xfrm>
            <a:off x="6812280" y="4892040"/>
            <a:ext cx="4480560" cy="1188720"/>
          </a:xfrm>
          <a:prstGeom prst="rect">
            <a:avLst/>
          </a:prstGeom>
          <a:noFill/>
          <a:ln/>
        </p:spPr>
        <p:txBody>
          <a:bodyPr wrap="square" lIns="0" tIns="0" rIns="0" bIns="0" rtlCol="0" anchor="ctr"/>
          <a:lstStyle/>
          <a:p>
            <a:pPr indent="0" marL="0">
              <a:lnSpc>
                <a:spcPct val="130000"/>
              </a:lnSpc>
              <a:buNone/>
            </a:pPr>
            <a:r>
              <a:rPr lang="en-US" sz="1200" dirty="0">
                <a:solidFill>
                  <a:srgbClr val="8CE99A"/>
                </a:solidFill>
                <a:latin typeface="Courier New" pitchFamily="34" charset="0"/>
                <a:ea typeface="Courier New" pitchFamily="34" charset="-122"/>
                <a:cs typeface="Courier New" pitchFamily="34" charset="-120"/>
              </a:rPr>
              <a:t>accuracy 0.762  ·  f1 0.760  ·  auc_roc 0.839</a:t>
            </a:r>
            <a:endParaRPr lang="en-US" sz="1200" dirty="0"/>
          </a:p>
          <a:p>
            <a:pPr indent="0" marL="0">
              <a:lnSpc>
                <a:spcPct val="130000"/>
              </a:lnSpc>
              <a:buNone/>
            </a:pPr>
            <a:r>
              <a:rPr lang="en-US" sz="1200" dirty="0">
                <a:solidFill>
                  <a:srgbClr val="8CE99A"/>
                </a:solidFill>
                <a:latin typeface="Courier New" pitchFamily="34" charset="0"/>
                <a:ea typeface="Courier New" pitchFamily="34" charset="-122"/>
                <a:cs typeface="Courier New" pitchFamily="34" charset="-120"/>
              </a:rPr>
              <a:t>→ promoted to models/production/model.pkl</a:t>
            </a:r>
            <a:endParaRPr lang="en-US" sz="1200" dirty="0"/>
          </a:p>
        </p:txBody>
      </p:sp>
      <p:sp>
        <p:nvSpPr>
          <p:cNvPr id="31" name="Text 29"/>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32" name="Text 30"/>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SHOW ME THE NUMBERS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Results: Model &amp; System</a:t>
            </a:r>
            <a:endParaRPr lang="en-US" sz="3000" dirty="0"/>
          </a:p>
        </p:txBody>
      </p:sp>
      <p:sp>
        <p:nvSpPr>
          <p:cNvPr id="4" name="Shape 2"/>
          <p:cNvSpPr/>
          <p:nvPr/>
        </p:nvSpPr>
        <p:spPr>
          <a:xfrm>
            <a:off x="548640" y="1463040"/>
            <a:ext cx="6309360" cy="4754880"/>
          </a:xfrm>
          <a:prstGeom prst="roundRect">
            <a:avLst>
              <a:gd name="adj" fmla="val 1538"/>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Text 3"/>
          <p:cNvSpPr/>
          <p:nvPr/>
        </p:nvSpPr>
        <p:spPr>
          <a:xfrm>
            <a:off x="868680" y="1691640"/>
            <a:ext cx="548640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Model comparison (Phase 1 report)</a:t>
            </a:r>
            <a:endParaRPr lang="en-US" sz="1400" dirty="0"/>
          </a:p>
        </p:txBody>
      </p:sp>
      <p:graphicFrame>
        <p:nvGraphicFramePr>
          <p:cNvPr id="6" name="Chart 0" descr=""/>
          <p:cNvGraphicFramePr/>
          <p:nvPr/>
        </p:nvGraphicFramePr>
        <p:xfrm>
          <a:off x="777240" y="2103120"/>
          <a:ext cx="5852160" cy="37947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086600" y="1463040"/>
            <a:ext cx="4526280" cy="2286000"/>
          </a:xfrm>
          <a:prstGeom prst="roundRect">
            <a:avLst>
              <a:gd name="adj" fmla="val 3200"/>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8" name="Text 5"/>
          <p:cNvSpPr/>
          <p:nvPr/>
        </p:nvSpPr>
        <p:spPr>
          <a:xfrm>
            <a:off x="7269480" y="1600200"/>
            <a:ext cx="420624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70.5%</a:t>
            </a:r>
            <a:endParaRPr lang="en-US" sz="4600" dirty="0"/>
          </a:p>
        </p:txBody>
      </p:sp>
      <p:sp>
        <p:nvSpPr>
          <p:cNvPr id="9" name="Text 6"/>
          <p:cNvSpPr/>
          <p:nvPr/>
        </p:nvSpPr>
        <p:spPr>
          <a:xfrm>
            <a:off x="7269480" y="2423160"/>
            <a:ext cx="4206240" cy="274320"/>
          </a:xfrm>
          <a:prstGeom prst="rect">
            <a:avLst/>
          </a:prstGeom>
          <a:noFill/>
          <a:ln/>
        </p:spPr>
        <p:txBody>
          <a:bodyPr wrap="square" lIns="0" tIns="0" rIns="0" bIns="0" rtlCol="0" anchor="ctr"/>
          <a:lstStyle/>
          <a:p>
            <a:pPr indent="0" marL="0">
              <a:buNone/>
            </a:pPr>
            <a:r>
              <a:rPr lang="en-US" sz="900" b="1" spc="100" kern="0" dirty="0">
                <a:solidFill>
                  <a:srgbClr val="3FA7D6"/>
                </a:solidFill>
                <a:latin typeface="Calibri" pitchFamily="34" charset="0"/>
                <a:ea typeface="Calibri" pitchFamily="34" charset="-122"/>
                <a:cs typeface="Calibri" pitchFamily="34" charset="-120"/>
              </a:rPr>
              <a:t>SHARE OF THE ORIGINAL 4 PHASE-2 GOALS FULLY BUILT + LOCALLY VERIFIED</a:t>
            </a:r>
            <a:endParaRPr lang="en-US" sz="900" dirty="0"/>
          </a:p>
        </p:txBody>
      </p:sp>
      <p:sp>
        <p:nvSpPr>
          <p:cNvPr id="10" name="Text 7"/>
          <p:cNvSpPr/>
          <p:nvPr/>
        </p:nvSpPr>
        <p:spPr>
          <a:xfrm>
            <a:off x="7269480" y="2788920"/>
            <a:ext cx="2011680" cy="502920"/>
          </a:xfrm>
          <a:prstGeom prst="rect">
            <a:avLst/>
          </a:prstGeom>
          <a:noFill/>
          <a:ln/>
        </p:spPr>
        <p:txBody>
          <a:bodyPr wrap="square" lIns="0" tIns="0" rIns="0" bIns="0" rtlCol="0" anchor="ctr"/>
          <a:lstStyle/>
          <a:p>
            <a:pPr indent="0" marL="0">
              <a:buNone/>
            </a:pPr>
            <a:r>
              <a:rPr lang="en-US" sz="2600" b="1" dirty="0">
                <a:solidFill>
                  <a:srgbClr val="8CE99A"/>
                </a:solidFill>
                <a:latin typeface="Cambria" pitchFamily="34" charset="0"/>
                <a:ea typeface="Cambria" pitchFamily="34" charset="-122"/>
                <a:cs typeface="Cambria" pitchFamily="34" charset="-120"/>
              </a:rPr>
              <a:t>13 / 13</a:t>
            </a:r>
            <a:endParaRPr lang="en-US" sz="2600" dirty="0"/>
          </a:p>
        </p:txBody>
      </p:sp>
      <p:sp>
        <p:nvSpPr>
          <p:cNvPr id="11" name="Text 8"/>
          <p:cNvSpPr/>
          <p:nvPr/>
        </p:nvSpPr>
        <p:spPr>
          <a:xfrm>
            <a:off x="7269480" y="3291840"/>
            <a:ext cx="201168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tests passing</a:t>
            </a:r>
            <a:endParaRPr lang="en-US" sz="1000" dirty="0"/>
          </a:p>
        </p:txBody>
      </p:sp>
      <p:sp>
        <p:nvSpPr>
          <p:cNvPr id="12" name="Text 9"/>
          <p:cNvSpPr/>
          <p:nvPr/>
        </p:nvSpPr>
        <p:spPr>
          <a:xfrm>
            <a:off x="9464040" y="2788920"/>
            <a:ext cx="2011680" cy="502920"/>
          </a:xfrm>
          <a:prstGeom prst="rect">
            <a:avLst/>
          </a:prstGeom>
          <a:noFill/>
          <a:ln/>
        </p:spPr>
        <p:txBody>
          <a:bodyPr wrap="square" lIns="0" tIns="0" rIns="0" bIns="0" rtlCol="0" anchor="ctr"/>
          <a:lstStyle/>
          <a:p>
            <a:pPr indent="0" marL="0">
              <a:buNone/>
            </a:pPr>
            <a:r>
              <a:rPr lang="en-US" sz="2600" b="1" dirty="0">
                <a:solidFill>
                  <a:srgbClr val="8CE99A"/>
                </a:solidFill>
                <a:latin typeface="Cambria" pitchFamily="34" charset="0"/>
                <a:ea typeface="Cambria" pitchFamily="34" charset="-122"/>
                <a:cs typeface="Cambria" pitchFamily="34" charset="-120"/>
              </a:rPr>
              <a:t>0</a:t>
            </a:r>
            <a:endParaRPr lang="en-US" sz="2600" dirty="0"/>
          </a:p>
        </p:txBody>
      </p:sp>
      <p:sp>
        <p:nvSpPr>
          <p:cNvPr id="13" name="Text 10"/>
          <p:cNvSpPr/>
          <p:nvPr/>
        </p:nvSpPr>
        <p:spPr>
          <a:xfrm>
            <a:off x="9464040" y="3291840"/>
            <a:ext cx="201168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lint errors (ruff)</a:t>
            </a:r>
            <a:endParaRPr lang="en-US" sz="1000" dirty="0"/>
          </a:p>
        </p:txBody>
      </p:sp>
      <p:sp>
        <p:nvSpPr>
          <p:cNvPr id="14" name="Shape 11"/>
          <p:cNvSpPr/>
          <p:nvPr/>
        </p:nvSpPr>
        <p:spPr>
          <a:xfrm>
            <a:off x="7086600" y="3931920"/>
            <a:ext cx="4526280" cy="2286000"/>
          </a:xfrm>
          <a:prstGeom prst="roundRect">
            <a:avLst>
              <a:gd name="adj" fmla="val 3200"/>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15" name="Text 12"/>
          <p:cNvSpPr/>
          <p:nvPr/>
        </p:nvSpPr>
        <p:spPr>
          <a:xfrm>
            <a:off x="7406640" y="4114800"/>
            <a:ext cx="4023360" cy="32004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What's live vs. what needs your infra</a:t>
            </a:r>
            <a:endParaRPr lang="en-US" sz="1300" dirty="0"/>
          </a:p>
        </p:txBody>
      </p:sp>
      <p:sp>
        <p:nvSpPr>
          <p:cNvPr id="16" name="Text 13"/>
          <p:cNvSpPr/>
          <p:nvPr/>
        </p:nvSpPr>
        <p:spPr>
          <a:xfrm>
            <a:off x="7406640" y="4480560"/>
            <a:ext cx="4023360" cy="1645920"/>
          </a:xfrm>
          <a:prstGeom prst="rect">
            <a:avLst/>
          </a:prstGeom>
          <a:noFill/>
          <a:ln/>
        </p:spPr>
        <p:txBody>
          <a:bodyPr wrap="square" lIns="0" tIns="0" rIns="0" bIns="0" rtlCol="0" anchor="t"/>
          <a:lstStyle/>
          <a:p>
            <a:pPr indent="0" marL="0">
              <a:lnSpc>
                <a:spcPct val="120000"/>
              </a:lnSpc>
              <a:buNone/>
            </a:pPr>
            <a:r>
              <a:rPr lang="en-US" sz="1150" b="1" dirty="0">
                <a:solidFill>
                  <a:srgbClr val="2E8B57"/>
                </a:solidFill>
                <a:latin typeface="Calibri" pitchFamily="34" charset="0"/>
                <a:ea typeface="Calibri" pitchFamily="34" charset="-122"/>
                <a:cs typeface="Calibri" pitchFamily="34" charset="-120"/>
              </a:rPr>
              <a:t>Built &amp; tested end-to-end: </a:t>
            </a:r>
            <a:pPr indent="0" marL="0">
              <a:lnSpc>
                <a:spcPct val="120000"/>
              </a:lnSpc>
              <a:buNone/>
            </a:pPr>
            <a:r>
              <a:rPr lang="en-US" sz="1150" dirty="0">
                <a:solidFill>
                  <a:srgbClr val="16213E"/>
                </a:solidFill>
                <a:latin typeface="Calibri" pitchFamily="34" charset="0"/>
                <a:ea typeface="Calibri" pitchFamily="34" charset="-122"/>
                <a:cs typeface="Calibri" pitchFamily="34" charset="-120"/>
              </a:rPr>
              <a:t>API, Docker, tests, drift script, retrain guardrail
</a:t>
            </a:r>
            <a:pPr indent="0" marL="0">
              <a:lnSpc>
                <a:spcPct val="120000"/>
              </a:lnSpc>
              <a:buNone/>
            </a:pPr>
            <a:endParaRPr lang="en-US" sz="1150" dirty="0"/>
          </a:p>
          <a:p>
            <a:pPr indent="0" marL="0">
              <a:lnSpc>
                <a:spcPct val="120000"/>
              </a:lnSpc>
              <a:buNone/>
            </a:pPr>
            <a:r>
              <a:rPr lang="en-US" sz="1150" b="1" dirty="0">
                <a:solidFill>
                  <a:srgbClr val="C1440E"/>
                </a:solidFill>
                <a:latin typeface="Calibri" pitchFamily="34" charset="0"/>
                <a:ea typeface="Calibri" pitchFamily="34" charset="-122"/>
                <a:cs typeface="Calibri" pitchFamily="34" charset="-120"/>
              </a:rPr>
              <a:t>Needs your account: </a:t>
            </a:r>
            <a:endParaRPr lang="en-US" sz="1150" dirty="0"/>
          </a:p>
          <a:p>
            <a:pPr indent="0" marL="0">
              <a:lnSpc>
                <a:spcPct val="120000"/>
              </a:lnSpc>
              <a:buNone/>
            </a:pPr>
            <a:r>
              <a:rPr lang="en-US" sz="1150" dirty="0">
                <a:solidFill>
                  <a:srgbClr val="16213E"/>
                </a:solidFill>
                <a:latin typeface="Calibri" pitchFamily="34" charset="0"/>
                <a:ea typeface="Calibri" pitchFamily="34" charset="-122"/>
                <a:cs typeface="Calibri" pitchFamily="34" charset="-120"/>
              </a:rPr>
              <a:t>Render deploy, GitHub secrets, Kaggle/DVC creds for auto-retrain</a:t>
            </a:r>
            <a:endParaRPr lang="en-US" sz="1150" dirty="0"/>
          </a:p>
        </p:txBody>
      </p:sp>
      <p:sp>
        <p:nvSpPr>
          <p:cNvPr id="17" name="Text 14"/>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18" name="Text 15"/>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BEING HONEST ABOUT IT</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Known Limitations &amp; Next Steps</a:t>
            </a:r>
            <a:endParaRPr lang="en-US" sz="3000" dirty="0"/>
          </a:p>
        </p:txBody>
      </p:sp>
      <p:sp>
        <p:nvSpPr>
          <p:cNvPr id="4" name="Shape 2"/>
          <p:cNvSpPr/>
          <p:nvPr/>
        </p:nvSpPr>
        <p:spPr>
          <a:xfrm>
            <a:off x="548640" y="1463040"/>
            <a:ext cx="5486400" cy="4754880"/>
          </a:xfrm>
          <a:prstGeom prst="roundRect">
            <a:avLst>
              <a:gd name="adj" fmla="val 1538"/>
            </a:avLst>
          </a:prstGeom>
          <a:solidFill>
            <a:srgbClr val="FFFFFF"/>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5" name="Text 3"/>
          <p:cNvSpPr/>
          <p:nvPr/>
        </p:nvSpPr>
        <p:spPr>
          <a:xfrm>
            <a:off x="868680" y="1691640"/>
            <a:ext cx="493776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Limitations (see MODEL_CARD.md)</a:t>
            </a:r>
            <a:endParaRPr lang="en-US" sz="1400" dirty="0"/>
          </a:p>
        </p:txBody>
      </p:sp>
      <p:sp>
        <p:nvSpPr>
          <p:cNvPr id="6" name="Text 4"/>
          <p:cNvSpPr/>
          <p:nvPr/>
        </p:nvSpPr>
        <p:spPr>
          <a:xfrm>
            <a:off x="868680" y="2103120"/>
            <a:ext cx="4937760" cy="39319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Trained on 2009–10 tweets — vocabulary and platform norms have shifted</a:t>
            </a:r>
            <a:endParaRPr lang="en-US" sz="1350" dirty="0"/>
          </a:p>
          <a:p>
            <a:pPr marL="342900" indent="-3429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Distant-supervision (emoticon) labels carry a few % noise</a:t>
            </a:r>
            <a:endParaRPr lang="en-US" sz="1350" dirty="0"/>
          </a:p>
          <a:p>
            <a:pPr marL="342900" indent="-3429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Binary only: no neutral class, no fairness/subgroup evaluation</a:t>
            </a:r>
            <a:endParaRPr lang="en-US" sz="1350" dirty="0"/>
          </a:p>
          <a:p>
            <a:pPr marL="342900" indent="-3429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Render free tier: ephemeral disk, cold starts after idle</a:t>
            </a:r>
            <a:endParaRPr lang="en-US" sz="1350" dirty="0"/>
          </a:p>
        </p:txBody>
      </p:sp>
      <p:sp>
        <p:nvSpPr>
          <p:cNvPr id="7" name="Shape 5"/>
          <p:cNvSpPr/>
          <p:nvPr/>
        </p:nvSpPr>
        <p:spPr>
          <a:xfrm>
            <a:off x="6309360" y="1463040"/>
            <a:ext cx="5303520" cy="4754880"/>
          </a:xfrm>
          <a:prstGeom prst="roundRect">
            <a:avLst>
              <a:gd name="adj" fmla="val 1538"/>
            </a:avLst>
          </a:prstGeom>
          <a:solidFill>
            <a:srgbClr val="0E2A47"/>
          </a:solidFill>
          <a:ln w="12700">
            <a:solidFill>
              <a:srgbClr val="E2E8F0"/>
            </a:solidFill>
            <a:prstDash val="solid"/>
          </a:ln>
          <a:effectLst>
            <a:outerShdw sx="100000" sy="100000" kx="0" ky="0" algn="bl" rotWithShape="0" blurRad="127000" dist="38100" dir="5400000">
              <a:srgbClr val="1B2A4A">
                <a:alpha val="18000"/>
              </a:srgbClr>
            </a:outerShdw>
          </a:effectLst>
        </p:spPr>
      </p:sp>
      <p:sp>
        <p:nvSpPr>
          <p:cNvPr id="8" name="Text 6"/>
          <p:cNvSpPr/>
          <p:nvPr/>
        </p:nvSpPr>
        <p:spPr>
          <a:xfrm>
            <a:off x="6629400" y="1691640"/>
            <a:ext cx="4663440" cy="320040"/>
          </a:xfrm>
          <a:prstGeom prst="rect">
            <a:avLst/>
          </a:prstGeom>
          <a:noFill/>
          <a:ln/>
        </p:spPr>
        <p:txBody>
          <a:bodyPr wrap="square" lIns="0" tIns="0" rIns="0" bIns="0" rtlCol="0" anchor="ctr"/>
          <a:lstStyle/>
          <a:p>
            <a:pPr indent="0" marL="0">
              <a:buNone/>
            </a:pPr>
            <a:r>
              <a:rPr lang="en-US" sz="1400" b="1" dirty="0">
                <a:solidFill>
                  <a:srgbClr val="3FA7D6"/>
                </a:solidFill>
                <a:latin typeface="Calibri" pitchFamily="34" charset="0"/>
                <a:ea typeface="Calibri" pitchFamily="34" charset="-122"/>
                <a:cs typeface="Calibri" pitchFamily="34" charset="-120"/>
              </a:rPr>
              <a:t>Next steps for a real deployment</a:t>
            </a:r>
            <a:endParaRPr lang="en-US" sz="1400" dirty="0"/>
          </a:p>
        </p:txBody>
      </p:sp>
      <p:sp>
        <p:nvSpPr>
          <p:cNvPr id="9" name="Text 7"/>
          <p:cNvSpPr/>
          <p:nvPr/>
        </p:nvSpPr>
        <p:spPr>
          <a:xfrm>
            <a:off x="6629400" y="2103120"/>
            <a:ext cx="4846320" cy="39319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Ship prediction logs to a database, not a local file</a:t>
            </a:r>
            <a:endParaRPr lang="en-US" sz="1350" dirty="0"/>
          </a:p>
          <a:p>
            <a:pPr marL="342900" indent="-3429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Train on the full 1.6M rows (params.yaml: sample_size: null)</a:t>
            </a:r>
            <a:endParaRPr lang="en-US" sz="1350" dirty="0"/>
          </a:p>
          <a:p>
            <a:pPr marL="342900" indent="-3429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Add TextOverviewPreset for richer NLP-level drift signals</a:t>
            </a:r>
            <a:endParaRPr lang="en-US" sz="1350" dirty="0"/>
          </a:p>
          <a:p>
            <a:pPr marL="342900" indent="-342900">
              <a:spcAft>
                <a:spcPts val="1400"/>
              </a:spcAft>
              <a:buSzPct val="100000"/>
              <a:buChar char="→"/>
            </a:pPr>
            <a:r>
              <a:rPr lang="en-US" sz="1350" dirty="0">
                <a:solidFill>
                  <a:srgbClr val="CADCFC"/>
                </a:solidFill>
                <a:latin typeface="Calibri" pitchFamily="34" charset="0"/>
                <a:ea typeface="Calibri" pitchFamily="34" charset="-122"/>
                <a:cs typeface="Calibri" pitchFamily="34" charset="-120"/>
              </a:rPr>
              <a:t>Paid tier / always-on instance to remove cold starts</a:t>
            </a:r>
            <a:endParaRPr lang="en-US" sz="1350" dirty="0"/>
          </a:p>
        </p:txBody>
      </p:sp>
      <p:sp>
        <p:nvSpPr>
          <p:cNvPr id="10" name="Text 8"/>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Twitter Sentiment Analysis — MLOps Phase 2</a:t>
            </a:r>
            <a:endParaRPr lang="en-US" sz="900" dirty="0"/>
          </a:p>
        </p:txBody>
      </p:sp>
      <p:sp>
        <p:nvSpPr>
          <p:cNvPr id="11" name="Text 9"/>
          <p:cNvSpPr/>
          <p:nvPr/>
        </p:nvSpPr>
        <p:spPr>
          <a:xfrm>
            <a:off x="11430000" y="6519672"/>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65A82">
              <a:alpha val="45000"/>
            </a:srgbClr>
          </a:solidFill>
          <a:ln/>
        </p:spPr>
      </p:sp>
      <p:sp>
        <p:nvSpPr>
          <p:cNvPr id="3" name="Shape 1"/>
          <p:cNvSpPr/>
          <p:nvPr/>
        </p:nvSpPr>
        <p:spPr>
          <a:xfrm>
            <a:off x="-548640" y="-548640"/>
            <a:ext cx="2377440" cy="2377440"/>
          </a:xfrm>
          <a:prstGeom prst="ellipse">
            <a:avLst/>
          </a:prstGeom>
          <a:solidFill>
            <a:srgbClr val="1C7293">
              <a:alpha val="65000"/>
            </a:srgbClr>
          </a:solidFill>
          <a:ln/>
        </p:spPr>
      </p:sp>
      <p:sp>
        <p:nvSpPr>
          <p:cNvPr id="4" name="Text 2"/>
          <p:cNvSpPr/>
          <p:nvPr/>
        </p:nvSpPr>
        <p:spPr>
          <a:xfrm>
            <a:off x="731520" y="822960"/>
            <a:ext cx="7315200" cy="365760"/>
          </a:xfrm>
          <a:prstGeom prst="rect">
            <a:avLst/>
          </a:prstGeom>
          <a:noFill/>
          <a:ln/>
        </p:spPr>
        <p:txBody>
          <a:bodyPr wrap="square" lIns="0" tIns="0" rIns="0" bIns="0" rtlCol="0" anchor="ctr"/>
          <a:lstStyle/>
          <a:p>
            <a:pPr indent="0" marL="0">
              <a:buNone/>
            </a:pPr>
            <a:r>
              <a:rPr lang="en-US" sz="1300" b="1" spc="200" kern="0" dirty="0">
                <a:solidFill>
                  <a:srgbClr val="3FA7D6"/>
                </a:solidFill>
                <a:latin typeface="Calibri" pitchFamily="34" charset="0"/>
                <a:ea typeface="Calibri" pitchFamily="34" charset="-122"/>
                <a:cs typeface="Calibri" pitchFamily="34" charset="-120"/>
              </a:rPr>
              <a:t>DELIVERABLES</a:t>
            </a:r>
            <a:endParaRPr lang="en-US" sz="1300" dirty="0"/>
          </a:p>
        </p:txBody>
      </p:sp>
      <p:sp>
        <p:nvSpPr>
          <p:cNvPr id="5" name="Text 3"/>
          <p:cNvSpPr/>
          <p:nvPr/>
        </p:nvSpPr>
        <p:spPr>
          <a:xfrm>
            <a:off x="731520" y="1188720"/>
            <a:ext cx="9144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Everything, in one place</a:t>
            </a:r>
            <a:endParaRPr lang="en-US" sz="3400" dirty="0"/>
          </a:p>
        </p:txBody>
      </p:sp>
      <p:sp>
        <p:nvSpPr>
          <p:cNvPr id="6" name="Shape 4"/>
          <p:cNvSpPr/>
          <p:nvPr/>
        </p:nvSpPr>
        <p:spPr>
          <a:xfrm>
            <a:off x="731520" y="2258568"/>
            <a:ext cx="164592" cy="164592"/>
          </a:xfrm>
          <a:prstGeom prst="ellipse">
            <a:avLst/>
          </a:prstGeom>
          <a:solidFill>
            <a:srgbClr val="3FA7D6"/>
          </a:solidFill>
          <a:ln/>
        </p:spPr>
      </p:sp>
      <p:sp>
        <p:nvSpPr>
          <p:cNvPr id="7" name="Text 5"/>
          <p:cNvSpPr/>
          <p:nvPr/>
        </p:nvSpPr>
        <p:spPr>
          <a:xfrm>
            <a:off x="1051560" y="2148840"/>
            <a:ext cx="32918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Public API URL</a:t>
            </a:r>
            <a:endParaRPr lang="en-US" sz="1500" dirty="0"/>
          </a:p>
        </p:txBody>
      </p:sp>
      <p:sp>
        <p:nvSpPr>
          <p:cNvPr id="8" name="Text 6"/>
          <p:cNvSpPr/>
          <p:nvPr/>
        </p:nvSpPr>
        <p:spPr>
          <a:xfrm>
            <a:off x="4343400" y="2148840"/>
            <a:ext cx="6858000" cy="45720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https://&lt;your-service&gt;.onrender.com/docs</a:t>
            </a:r>
            <a:endParaRPr lang="en-US" sz="1250" dirty="0"/>
          </a:p>
        </p:txBody>
      </p:sp>
      <p:sp>
        <p:nvSpPr>
          <p:cNvPr id="9" name="Shape 7"/>
          <p:cNvSpPr/>
          <p:nvPr/>
        </p:nvSpPr>
        <p:spPr>
          <a:xfrm>
            <a:off x="731520" y="2880360"/>
            <a:ext cx="164592" cy="164592"/>
          </a:xfrm>
          <a:prstGeom prst="ellipse">
            <a:avLst/>
          </a:prstGeom>
          <a:solidFill>
            <a:srgbClr val="3FA7D6"/>
          </a:solidFill>
          <a:ln/>
        </p:spPr>
      </p:sp>
      <p:sp>
        <p:nvSpPr>
          <p:cNvPr id="10" name="Text 8"/>
          <p:cNvSpPr/>
          <p:nvPr/>
        </p:nvSpPr>
        <p:spPr>
          <a:xfrm>
            <a:off x="1051560" y="2770632"/>
            <a:ext cx="32918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 Actions workflows</a:t>
            </a:r>
            <a:endParaRPr lang="en-US" sz="1500" dirty="0"/>
          </a:p>
        </p:txBody>
      </p:sp>
      <p:sp>
        <p:nvSpPr>
          <p:cNvPr id="11" name="Text 9"/>
          <p:cNvSpPr/>
          <p:nvPr/>
        </p:nvSpPr>
        <p:spPr>
          <a:xfrm>
            <a:off x="4343400" y="2770632"/>
            <a:ext cx="6858000" cy="45720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ci.yml · drift-monitor.yml · retrain.yml</a:t>
            </a:r>
            <a:endParaRPr lang="en-US" sz="1250" dirty="0"/>
          </a:p>
        </p:txBody>
      </p:sp>
      <p:sp>
        <p:nvSpPr>
          <p:cNvPr id="12" name="Shape 10"/>
          <p:cNvSpPr/>
          <p:nvPr/>
        </p:nvSpPr>
        <p:spPr>
          <a:xfrm>
            <a:off x="731520" y="3502152"/>
            <a:ext cx="164592" cy="164592"/>
          </a:xfrm>
          <a:prstGeom prst="ellipse">
            <a:avLst/>
          </a:prstGeom>
          <a:solidFill>
            <a:srgbClr val="3FA7D6"/>
          </a:solidFill>
          <a:ln/>
        </p:spPr>
      </p:sp>
      <p:sp>
        <p:nvSpPr>
          <p:cNvPr id="13" name="Text 11"/>
          <p:cNvSpPr/>
          <p:nvPr/>
        </p:nvSpPr>
        <p:spPr>
          <a:xfrm>
            <a:off x="1051560" y="3392424"/>
            <a:ext cx="32918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Drift reports</a:t>
            </a:r>
            <a:endParaRPr lang="en-US" sz="1500" dirty="0"/>
          </a:p>
        </p:txBody>
      </p:sp>
      <p:sp>
        <p:nvSpPr>
          <p:cNvPr id="14" name="Text 12"/>
          <p:cNvSpPr/>
          <p:nvPr/>
        </p:nvSpPr>
        <p:spPr>
          <a:xfrm>
            <a:off x="4343400" y="3392424"/>
            <a:ext cx="6858000" cy="45720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metrics/drift/ — EvidentlyAI HTML + JSON summary</a:t>
            </a:r>
            <a:endParaRPr lang="en-US" sz="1250" dirty="0"/>
          </a:p>
        </p:txBody>
      </p:sp>
      <p:sp>
        <p:nvSpPr>
          <p:cNvPr id="15" name="Shape 13"/>
          <p:cNvSpPr/>
          <p:nvPr/>
        </p:nvSpPr>
        <p:spPr>
          <a:xfrm>
            <a:off x="731520" y="4123944"/>
            <a:ext cx="164592" cy="164592"/>
          </a:xfrm>
          <a:prstGeom prst="ellipse">
            <a:avLst/>
          </a:prstGeom>
          <a:solidFill>
            <a:srgbClr val="3FA7D6"/>
          </a:solidFill>
          <a:ln/>
        </p:spPr>
      </p:sp>
      <p:sp>
        <p:nvSpPr>
          <p:cNvPr id="16" name="Text 14"/>
          <p:cNvSpPr/>
          <p:nvPr/>
        </p:nvSpPr>
        <p:spPr>
          <a:xfrm>
            <a:off x="1051560" y="4014216"/>
            <a:ext cx="32918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Model Card</a:t>
            </a:r>
            <a:endParaRPr lang="en-US" sz="1500" dirty="0"/>
          </a:p>
        </p:txBody>
      </p:sp>
      <p:sp>
        <p:nvSpPr>
          <p:cNvPr id="17" name="Text 15"/>
          <p:cNvSpPr/>
          <p:nvPr/>
        </p:nvSpPr>
        <p:spPr>
          <a:xfrm>
            <a:off x="4343400" y="4014216"/>
            <a:ext cx="6858000" cy="45720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MODEL_CARD.md — data, metrics, limitations, ethics</a:t>
            </a:r>
            <a:endParaRPr lang="en-US" sz="1250" dirty="0"/>
          </a:p>
        </p:txBody>
      </p:sp>
      <p:sp>
        <p:nvSpPr>
          <p:cNvPr id="18" name="Shape 16"/>
          <p:cNvSpPr/>
          <p:nvPr/>
        </p:nvSpPr>
        <p:spPr>
          <a:xfrm>
            <a:off x="731520" y="4937760"/>
            <a:ext cx="10698480" cy="1280160"/>
          </a:xfrm>
          <a:prstGeom prst="roundRect">
            <a:avLst>
              <a:gd name="adj" fmla="val 5714"/>
            </a:avLst>
          </a:prstGeom>
          <a:solidFill>
            <a:srgbClr val="1A2350"/>
          </a:solidFill>
          <a:ln/>
        </p:spPr>
      </p:sp>
      <p:sp>
        <p:nvSpPr>
          <p:cNvPr id="19" name="Text 17"/>
          <p:cNvSpPr/>
          <p:nvPr/>
        </p:nvSpPr>
        <p:spPr>
          <a:xfrm>
            <a:off x="1005840" y="5138928"/>
            <a:ext cx="10149840" cy="411480"/>
          </a:xfrm>
          <a:prstGeom prst="rect">
            <a:avLst/>
          </a:prstGeom>
          <a:noFill/>
          <a:ln/>
        </p:spPr>
        <p:txBody>
          <a:bodyPr wrap="square" lIns="0" tIns="0" rIns="0" bIns="0" rtlCol="0" anchor="ctr"/>
          <a:lstStyle/>
          <a:p>
            <a:pPr indent="0" marL="0">
              <a:buNone/>
            </a:pPr>
            <a:r>
              <a:rPr lang="en-US" sz="1300" dirty="0">
                <a:solidFill>
                  <a:srgbClr val="7CD4FF"/>
                </a:solidFill>
                <a:latin typeface="Courier New" pitchFamily="34" charset="0"/>
                <a:ea typeface="Courier New" pitchFamily="34" charset="-122"/>
                <a:cs typeface="Courier New" pitchFamily="34" charset="-120"/>
              </a:rPr>
              <a:t>Repo: github.com/ADG2134/mlops-twitter-sentiment-analysis-project-phase2-Group5  (branch: phase2)</a:t>
            </a:r>
            <a:endParaRPr lang="en-US" sz="1300" dirty="0"/>
          </a:p>
        </p:txBody>
      </p:sp>
      <p:sp>
        <p:nvSpPr>
          <p:cNvPr id="20" name="Text 18"/>
          <p:cNvSpPr/>
          <p:nvPr/>
        </p:nvSpPr>
        <p:spPr>
          <a:xfrm>
            <a:off x="1005840" y="5577840"/>
            <a:ext cx="10149840" cy="457200"/>
          </a:xfrm>
          <a:prstGeom prst="rect">
            <a:avLst/>
          </a:prstGeom>
          <a:noFill/>
          <a:ln/>
        </p:spPr>
        <p:txBody>
          <a:bodyPr wrap="square" lIns="0" tIns="0" rIns="0" bIns="0" rtlCol="0" anchor="ctr"/>
          <a:lstStyle/>
          <a:p>
            <a:pPr indent="0" marL="0">
              <a:buNone/>
            </a:pPr>
            <a:r>
              <a:rPr lang="en-US" sz="1500" i="1" dirty="0">
                <a:solidFill>
                  <a:srgbClr val="9FB3D6"/>
                </a:solidFill>
                <a:latin typeface="Calibri" pitchFamily="34" charset="0"/>
                <a:ea typeface="Calibri" pitchFamily="34" charset="-122"/>
                <a:cs typeface="Calibri" pitchFamily="34" charset="-120"/>
              </a:rPr>
              <a:t>Thank you —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2026-08-02T04:41:15Z</dcterms:created>
  <dcterms:modified xsi:type="dcterms:W3CDTF">2026-08-02T04:41:15Z</dcterms:modified>
</cp:coreProperties>
</file>